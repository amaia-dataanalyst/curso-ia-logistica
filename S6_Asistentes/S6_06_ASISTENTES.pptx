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75" r:id="rId5"/>
    <p:sldId id="276" r:id="rId6"/>
    <p:sldId id="281" r:id="rId7"/>
    <p:sldId id="259" r:id="rId8"/>
    <p:sldId id="269" r:id="rId9"/>
    <p:sldId id="283" r:id="rId10"/>
    <p:sldId id="285" r:id="rId11"/>
    <p:sldId id="284" r:id="rId12"/>
    <p:sldId id="287" r:id="rId13"/>
    <p:sldId id="288" r:id="rId14"/>
    <p:sldId id="289" r:id="rId15"/>
    <p:sldId id="290" r:id="rId16"/>
    <p:sldId id="264" r:id="rId17"/>
    <p:sldId id="282" r:id="rId18"/>
    <p:sldId id="265" r:id="rId19"/>
    <p:sldId id="293" r:id="rId20"/>
    <p:sldId id="294" r:id="rId21"/>
    <p:sldId id="295" r:id="rId22"/>
    <p:sldId id="296" r:id="rId23"/>
    <p:sldId id="270" r:id="rId24"/>
    <p:sldId id="268" r:id="rId25"/>
    <p:sldId id="266" r:id="rId26"/>
    <p:sldId id="271" r:id="rId27"/>
    <p:sldId id="272" r:id="rId28"/>
    <p:sldId id="273" r:id="rId29"/>
    <p:sldId id="274" r:id="rId30"/>
    <p:sldId id="297" r:id="rId31"/>
    <p:sldId id="277" r:id="rId32"/>
    <p:sldId id="278" r:id="rId33"/>
    <p:sldId id="279" r:id="rId34"/>
    <p:sldId id="28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9F9F"/>
    <a:srgbClr val="BE525C"/>
    <a:srgbClr val="D09B4C"/>
    <a:srgbClr val="A87324"/>
    <a:srgbClr val="EAC8CB"/>
    <a:srgbClr val="E9CFA9"/>
    <a:srgbClr val="ABE7DD"/>
    <a:srgbClr val="6FD7C6"/>
    <a:srgbClr val="2A9684"/>
    <a:srgbClr val="3F9A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2. tarteko estiloa - 1. aldaera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1. estilo arg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1. estilo argia - 5. aldaer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1. estilo argia - 6. aldaer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07" autoAdjust="0"/>
  </p:normalViewPr>
  <p:slideViewPr>
    <p:cSldViewPr snapToGrid="0" snapToObjects="1">
      <p:cViewPr>
        <p:scale>
          <a:sx n="110" d="100"/>
          <a:sy n="110" d="100"/>
        </p:scale>
        <p:origin x="40" y="-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86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09:00 · ARRANQUE</a:t>
            </a:r>
          </a:p>
          <a:p>
            <a:endParaRPr dirty="0"/>
          </a:p>
          <a:p>
            <a:r>
              <a:rPr dirty="0"/>
              <a:t>Sexta </a:t>
            </a:r>
            <a:r>
              <a:rPr dirty="0" err="1"/>
              <a:t>sesión</a:t>
            </a:r>
            <a:r>
              <a:rPr dirty="0"/>
              <a:t>. Hoy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dejan</a:t>
            </a:r>
            <a:r>
              <a:rPr dirty="0"/>
              <a:t> de ser un </a:t>
            </a:r>
            <a:r>
              <a:rPr dirty="0" err="1"/>
              <a:t>adjunto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tarea</a:t>
            </a:r>
            <a:r>
              <a:rPr dirty="0"/>
              <a:t> y </a:t>
            </a:r>
            <a:r>
              <a:rPr dirty="0" err="1"/>
              <a:t>pasan</a:t>
            </a:r>
            <a:r>
              <a:rPr lang="ca-ES" dirty="0"/>
              <a:t> </a:t>
            </a:r>
            <a:r>
              <a:rPr dirty="0"/>
              <a:t>a ser algo </a:t>
            </a:r>
            <a:r>
              <a:rPr dirty="0" err="1"/>
              <a:t>que</a:t>
            </a:r>
            <a:r>
              <a:rPr dirty="0"/>
              <a:t> se consulta </a:t>
            </a:r>
            <a:r>
              <a:rPr dirty="0" err="1"/>
              <a:t>una</a:t>
            </a:r>
            <a:r>
              <a:rPr dirty="0"/>
              <a:t> y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.</a:t>
            </a:r>
          </a:p>
          <a:p>
            <a:endParaRPr dirty="0"/>
          </a:p>
          <a:p>
            <a:r>
              <a:rPr lang="eu-ES" b="0" dirty="0" err="1"/>
              <a:t>Hoy</a:t>
            </a:r>
            <a:r>
              <a:rPr lang="eu-ES" b="0" dirty="0"/>
              <a:t> </a:t>
            </a:r>
            <a:r>
              <a:rPr lang="eu-ES" b="0" dirty="0" err="1"/>
              <a:t>hablaremos</a:t>
            </a:r>
            <a:r>
              <a:rPr lang="eu-ES" b="0" dirty="0"/>
              <a:t> de </a:t>
            </a:r>
            <a:r>
              <a:rPr lang="eu-ES" b="1" dirty="0" err="1"/>
              <a:t>valor</a:t>
            </a:r>
            <a:r>
              <a:rPr lang="eu-ES" b="1" dirty="0"/>
              <a:t> </a:t>
            </a:r>
            <a:r>
              <a:rPr lang="eu-ES" b="1" dirty="0" err="1"/>
              <a:t>organizativo</a:t>
            </a:r>
            <a:r>
              <a:rPr lang="eu-ES" b="1" dirty="0"/>
              <a:t>, </a:t>
            </a:r>
            <a:r>
              <a:rPr lang="eu-ES" b="1" dirty="0" err="1"/>
              <a:t>conocimiento</a:t>
            </a:r>
            <a:r>
              <a:rPr lang="eu-ES" b="1" dirty="0"/>
              <a:t> </a:t>
            </a:r>
            <a:r>
              <a:rPr lang="eu-ES" b="1" dirty="0" err="1"/>
              <a:t>gobernado</a:t>
            </a:r>
            <a:r>
              <a:rPr lang="eu-ES" b="1" dirty="0"/>
              <a:t>, </a:t>
            </a:r>
            <a:r>
              <a:rPr lang="eu-ES" b="1" dirty="0" err="1"/>
              <a:t>source</a:t>
            </a:r>
            <a:r>
              <a:rPr lang="eu-ES" b="1" dirty="0"/>
              <a:t> </a:t>
            </a:r>
            <a:r>
              <a:rPr lang="eu-ES" b="1" dirty="0" err="1"/>
              <a:t>of</a:t>
            </a:r>
            <a:r>
              <a:rPr lang="eu-ES" b="1" dirty="0"/>
              <a:t> </a:t>
            </a:r>
            <a:r>
              <a:rPr lang="eu-ES" b="1" dirty="0" err="1"/>
              <a:t>truth</a:t>
            </a:r>
            <a:r>
              <a:rPr lang="eu-ES" b="1" dirty="0"/>
              <a:t>, </a:t>
            </a:r>
            <a:r>
              <a:rPr lang="eu-ES" b="1" dirty="0" err="1"/>
              <a:t>gobernanza</a:t>
            </a:r>
            <a:r>
              <a:rPr lang="eu-ES" b="1" dirty="0"/>
              <a:t>, </a:t>
            </a:r>
            <a:r>
              <a:rPr lang="eu-ES" b="1" dirty="0" err="1"/>
              <a:t>jerarquía</a:t>
            </a:r>
            <a:r>
              <a:rPr lang="eu-ES" b="1" dirty="0"/>
              <a:t> </a:t>
            </a:r>
            <a:r>
              <a:rPr lang="eu-ES" b="1" dirty="0" err="1"/>
              <a:t>documental</a:t>
            </a:r>
            <a:r>
              <a:rPr lang="eu-ES" b="1" dirty="0"/>
              <a:t>, </a:t>
            </a:r>
            <a:r>
              <a:rPr lang="eu-ES" b="1" dirty="0" err="1"/>
              <a:t>permisos</a:t>
            </a:r>
            <a:r>
              <a:rPr lang="eu-ES" b="1" dirty="0"/>
              <a:t>/</a:t>
            </a:r>
            <a:r>
              <a:rPr lang="eu-ES" b="1" dirty="0" err="1"/>
              <a:t>seguridad</a:t>
            </a:r>
            <a:r>
              <a:rPr lang="eu-ES" b="1" dirty="0"/>
              <a:t> y “</a:t>
            </a:r>
            <a:r>
              <a:rPr lang="eu-ES" b="1" dirty="0" err="1"/>
              <a:t>un</a:t>
            </a:r>
            <a:r>
              <a:rPr lang="eu-ES" b="1" dirty="0"/>
              <a:t> corpus, </a:t>
            </a:r>
            <a:r>
              <a:rPr lang="eu-ES" b="1" dirty="0" err="1"/>
              <a:t>muchos</a:t>
            </a:r>
            <a:r>
              <a:rPr lang="eu-ES" b="1" dirty="0"/>
              <a:t> </a:t>
            </a:r>
            <a:r>
              <a:rPr lang="eu-ES" b="1" dirty="0" err="1"/>
              <a:t>productos</a:t>
            </a:r>
            <a:r>
              <a:rPr lang="eu-ES" b="1" dirty="0"/>
              <a:t>”</a:t>
            </a:r>
            <a:endParaRPr dirty="0"/>
          </a:p>
          <a:p>
            <a:endParaRPr lang="ca-ES" dirty="0"/>
          </a:p>
          <a:p>
            <a:r>
              <a:rPr dirty="0"/>
              <a:t>LO QUE HOY NO ES: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clase</a:t>
            </a:r>
            <a:r>
              <a:rPr dirty="0"/>
              <a:t> de </a:t>
            </a:r>
            <a:r>
              <a:rPr dirty="0" err="1"/>
              <a:t>tecnología</a:t>
            </a:r>
            <a:r>
              <a:rPr dirty="0"/>
              <a:t>. No se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 un</a:t>
            </a:r>
            <a:r>
              <a:rPr lang="ca-ES" dirty="0"/>
              <a:t>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, y no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para nada de lo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aprende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09:00–09:08 · RECUPERAR S3 Y ESCUCHA (8 min)</a:t>
            </a:r>
          </a:p>
          <a:p>
            <a:endParaRPr dirty="0"/>
          </a:p>
          <a:p>
            <a:endParaRPr dirty="0"/>
          </a:p>
          <a:p>
            <a:r>
              <a:rPr dirty="0"/>
              <a:t>EL SALTO, y es lo </a:t>
            </a:r>
            <a:r>
              <a:rPr dirty="0" err="1"/>
              <a:t>único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hay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dejar</a:t>
            </a:r>
            <a:r>
              <a:rPr dirty="0"/>
              <a:t> claro: </a:t>
            </a:r>
            <a:r>
              <a:rPr dirty="0" err="1"/>
              <a:t>allí</a:t>
            </a:r>
            <a:r>
              <a:rPr dirty="0"/>
              <a:t> </a:t>
            </a:r>
            <a:r>
              <a:rPr dirty="0" err="1"/>
              <a:t>adjuntabas</a:t>
            </a:r>
            <a:r>
              <a:rPr dirty="0"/>
              <a:t> </a:t>
            </a:r>
            <a:r>
              <a:rPr dirty="0" err="1"/>
              <a:t>los</a:t>
            </a:r>
            <a:r>
              <a:rPr lang="ca-ES"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necesitabas</a:t>
            </a:r>
            <a:r>
              <a:rPr dirty="0"/>
              <a:t> PARA UNA TAREA. Hoy </a:t>
            </a:r>
            <a:r>
              <a:rPr dirty="0" err="1"/>
              <a:t>esos</a:t>
            </a:r>
            <a:r>
              <a:rPr dirty="0"/>
              <a:t> </a:t>
            </a:r>
            <a:r>
              <a:rPr dirty="0" err="1"/>
              <a:t>mismos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pasan</a:t>
            </a:r>
            <a:r>
              <a:rPr dirty="0"/>
              <a:t> a</a:t>
            </a:r>
            <a:r>
              <a:rPr lang="ca-ES" dirty="0"/>
              <a:t> </a:t>
            </a:r>
            <a:r>
              <a:rPr dirty="0"/>
              <a:t>ser </a:t>
            </a:r>
            <a:r>
              <a:rPr dirty="0" err="1"/>
              <a:t>una</a:t>
            </a:r>
            <a:r>
              <a:rPr dirty="0"/>
              <a:t> base de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consulta </a:t>
            </a:r>
            <a:r>
              <a:rPr dirty="0" err="1"/>
              <a:t>muchas</a:t>
            </a:r>
            <a:r>
              <a:rPr dirty="0"/>
              <a:t> </a:t>
            </a:r>
            <a:r>
              <a:rPr dirty="0" err="1"/>
              <a:t>veces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gente</a:t>
            </a:r>
            <a:r>
              <a:rPr lang="ca-ES" dirty="0"/>
              <a:t> </a:t>
            </a:r>
            <a:r>
              <a:rPr dirty="0" err="1"/>
              <a:t>distinta</a:t>
            </a:r>
            <a:r>
              <a:rPr dirty="0"/>
              <a:t>, sin </a:t>
            </a:r>
            <a:r>
              <a:rPr dirty="0" err="1"/>
              <a:t>volver</a:t>
            </a:r>
            <a:r>
              <a:rPr dirty="0"/>
              <a:t> a </a:t>
            </a:r>
            <a:r>
              <a:rPr dirty="0" err="1"/>
              <a:t>adjuntar</a:t>
            </a:r>
            <a:r>
              <a:rPr dirty="0"/>
              <a:t> nada.</a:t>
            </a:r>
          </a:p>
          <a:p>
            <a:endParaRPr dirty="0"/>
          </a:p>
          <a:p>
            <a:r>
              <a:rPr dirty="0"/>
              <a:t>«¿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preguntan</a:t>
            </a:r>
            <a:r>
              <a:rPr dirty="0"/>
              <a:t> a </a:t>
            </a:r>
            <a:r>
              <a:rPr dirty="0" err="1"/>
              <a:t>vosotros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las</a:t>
            </a:r>
            <a:r>
              <a:rPr lang="ca-ES" dirty="0"/>
              <a:t> </a:t>
            </a:r>
            <a:r>
              <a:rPr dirty="0" err="1"/>
              <a:t>semanas</a:t>
            </a:r>
            <a:r>
              <a:rPr dirty="0"/>
              <a:t>, </a:t>
            </a:r>
            <a:r>
              <a:rPr dirty="0" err="1"/>
              <a:t>siempre</a:t>
            </a:r>
            <a:r>
              <a:rPr dirty="0"/>
              <a:t> lo </a:t>
            </a:r>
            <a:r>
              <a:rPr dirty="0" err="1"/>
              <a:t>mismo</a:t>
            </a:r>
            <a:r>
              <a:rPr dirty="0"/>
              <a:t>?». </a:t>
            </a:r>
            <a:endParaRPr lang="ca-ES" dirty="0"/>
          </a:p>
          <a:p>
            <a:r>
              <a:rPr dirty="0" err="1"/>
              <a:t>Apunta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pizarra</a:t>
            </a:r>
            <a:r>
              <a:rPr dirty="0"/>
              <a:t>: se </a:t>
            </a:r>
            <a:r>
              <a:rPr dirty="0" err="1"/>
              <a:t>vuelve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cierre</a:t>
            </a:r>
            <a:r>
              <a:rPr dirty="0"/>
              <a:t>, y</a:t>
            </a:r>
            <a:r>
              <a:rPr lang="ca-ES" dirty="0"/>
              <a:t> </a:t>
            </a:r>
            <a:r>
              <a:rPr dirty="0" err="1"/>
              <a:t>además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lista</a:t>
            </a:r>
            <a:r>
              <a:rPr dirty="0"/>
              <a:t> es el primer </a:t>
            </a:r>
            <a:r>
              <a:rPr dirty="0" err="1"/>
              <a:t>borrador</a:t>
            </a:r>
            <a:r>
              <a:rPr dirty="0"/>
              <a:t> de para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serviría</a:t>
            </a:r>
            <a:r>
              <a:rPr dirty="0"/>
              <a:t> un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en</a:t>
            </a:r>
            <a:r>
              <a:rPr lang="ca-ES"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empresa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 dirty="0"/>
              <a:t>CONVIENE HABLAR DE NIVEL DE DIGITALIZACIÓN: Tarjeta_S1.pdf</a:t>
            </a:r>
          </a:p>
          <a:p>
            <a:endParaRPr dirty="0"/>
          </a:p>
          <a:p>
            <a:r>
              <a:rPr dirty="0"/>
              <a:t>LO QUE VIENE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próximos</a:t>
            </a:r>
            <a:r>
              <a:rPr dirty="0"/>
              <a:t> 39 </a:t>
            </a:r>
            <a:r>
              <a:rPr dirty="0" err="1"/>
              <a:t>minutos</a:t>
            </a:r>
            <a:r>
              <a:rPr dirty="0"/>
              <a:t>: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un </a:t>
            </a:r>
            <a:r>
              <a:rPr dirty="0" err="1"/>
              <a:t>asistente</a:t>
            </a:r>
            <a:r>
              <a:rPr dirty="0"/>
              <a:t>, </a:t>
            </a:r>
            <a:r>
              <a:rPr dirty="0" err="1"/>
              <a:t>qué</a:t>
            </a:r>
            <a:r>
              <a:rPr lang="ca-ES" dirty="0"/>
              <a:t> </a:t>
            </a:r>
            <a:r>
              <a:rPr dirty="0" err="1"/>
              <a:t>necesita</a:t>
            </a:r>
            <a:r>
              <a:rPr dirty="0"/>
              <a:t> para </a:t>
            </a:r>
            <a:r>
              <a:rPr dirty="0" err="1"/>
              <a:t>funcionar</a:t>
            </a:r>
            <a:r>
              <a:rPr dirty="0"/>
              <a:t>, y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orden</a:t>
            </a:r>
            <a:r>
              <a:rPr dirty="0"/>
              <a:t> </a:t>
            </a:r>
            <a:r>
              <a:rPr dirty="0" err="1"/>
              <a:t>mandan</a:t>
            </a:r>
            <a:r>
              <a:rPr dirty="0"/>
              <a:t> sus </a:t>
            </a:r>
            <a:r>
              <a:rPr dirty="0" err="1"/>
              <a:t>fuentes</a:t>
            </a:r>
            <a:r>
              <a:rPr dirty="0"/>
              <a:t>.</a:t>
            </a:r>
            <a:endParaRPr lang="ca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MARCA EL CAMBIO con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, no con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definición</a:t>
            </a:r>
            <a:r>
              <a:rPr dirty="0"/>
              <a:t>:</a:t>
            </a:r>
            <a:r>
              <a:rPr lang="ca-ES" dirty="0"/>
              <a:t>  </a:t>
            </a:r>
            <a:r>
              <a:rPr dirty="0"/>
              <a:t>«¿Y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pasa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lo </a:t>
            </a:r>
            <a:r>
              <a:rPr dirty="0" err="1"/>
              <a:t>importante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ningún</a:t>
            </a:r>
            <a:r>
              <a:rPr dirty="0"/>
              <a:t> PDF?»</a:t>
            </a:r>
          </a:p>
          <a:p>
            <a:endParaRPr dirty="0"/>
          </a:p>
          <a:p>
            <a:r>
              <a:rPr dirty="0"/>
              <a:t>EL EJEMPLO QUE TODO EL MUNDO RECONOCE: </a:t>
            </a:r>
            <a:r>
              <a:rPr dirty="0" err="1"/>
              <a:t>alguien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lleva</a:t>
            </a:r>
            <a:r>
              <a:rPr dirty="0"/>
              <a:t> </a:t>
            </a:r>
            <a:r>
              <a:rPr dirty="0" err="1"/>
              <a:t>veinte</a:t>
            </a:r>
            <a:r>
              <a:rPr dirty="0"/>
              <a:t> </a:t>
            </a:r>
            <a:r>
              <a:rPr dirty="0" err="1"/>
              <a:t>años</a:t>
            </a:r>
            <a:r>
              <a:rPr dirty="0"/>
              <a:t> y sabe</a:t>
            </a:r>
            <a:r>
              <a:rPr lang="ca-ES"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preguntar</a:t>
            </a:r>
            <a:r>
              <a:rPr dirty="0"/>
              <a:t> primero, a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llamar</a:t>
            </a:r>
            <a:r>
              <a:rPr dirty="0"/>
              <a:t>,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excepciones</a:t>
            </a:r>
            <a:r>
              <a:rPr dirty="0"/>
              <a:t> hay,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señales</a:t>
            </a:r>
            <a:r>
              <a:rPr dirty="0"/>
              <a:t> le</a:t>
            </a:r>
            <a:r>
              <a:rPr lang="ca-ES" dirty="0"/>
              <a:t> </a:t>
            </a:r>
            <a:r>
              <a:rPr dirty="0" err="1"/>
              <a:t>preocupan</a:t>
            </a:r>
            <a:r>
              <a:rPr dirty="0"/>
              <a:t> y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escalar</a:t>
            </a:r>
            <a:r>
              <a:rPr dirty="0"/>
              <a:t>. Nada de </a:t>
            </a:r>
            <a:r>
              <a:rPr dirty="0" err="1"/>
              <a:t>eso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escrito</a:t>
            </a:r>
            <a:r>
              <a:rPr dirty="0"/>
              <a:t>. Si </a:t>
            </a:r>
            <a:r>
              <a:rPr dirty="0" err="1"/>
              <a:t>esa</a:t>
            </a:r>
            <a:r>
              <a:rPr dirty="0"/>
              <a:t> persona </a:t>
            </a:r>
            <a:r>
              <a:rPr dirty="0" err="1"/>
              <a:t>falta</a:t>
            </a:r>
            <a:r>
              <a:rPr dirty="0"/>
              <a:t> un</a:t>
            </a:r>
            <a:r>
              <a:rPr lang="ca-ES" dirty="0"/>
              <a:t> </a:t>
            </a:r>
            <a:r>
              <a:rPr dirty="0"/>
              <a:t>día, se </a:t>
            </a:r>
            <a:r>
              <a:rPr dirty="0" err="1"/>
              <a:t>improvisa</a:t>
            </a:r>
            <a:r>
              <a:rPr dirty="0"/>
              <a:t>.</a:t>
            </a:r>
            <a:r>
              <a:rPr lang="ca-ES" dirty="0"/>
              <a:t> </a:t>
            </a:r>
            <a:endParaRPr dirty="0"/>
          </a:p>
          <a:p>
            <a:endParaRPr lang="ca-ES" dirty="0"/>
          </a:p>
          <a:p>
            <a:r>
              <a:rPr dirty="0"/>
              <a:t>Y LA CONSECUENCIA para lo de hoy: </a:t>
            </a:r>
            <a:r>
              <a:rPr b="1" dirty="0" err="1"/>
              <a:t>por</a:t>
            </a:r>
            <a:r>
              <a:rPr b="1" dirty="0"/>
              <a:t> </a:t>
            </a:r>
            <a:r>
              <a:rPr b="1" dirty="0" err="1"/>
              <a:t>muy</a:t>
            </a:r>
            <a:r>
              <a:rPr b="1" dirty="0"/>
              <a:t> bien </a:t>
            </a:r>
            <a:r>
              <a:rPr b="1" dirty="0" err="1"/>
              <a:t>montado</a:t>
            </a:r>
            <a:r>
              <a:rPr b="1" dirty="0"/>
              <a:t> </a:t>
            </a:r>
            <a:r>
              <a:rPr b="1" dirty="0" err="1"/>
              <a:t>que</a:t>
            </a:r>
            <a:r>
              <a:rPr b="1" dirty="0"/>
              <a:t> </a:t>
            </a:r>
            <a:r>
              <a:rPr b="1" dirty="0" err="1"/>
              <a:t>esté</a:t>
            </a:r>
            <a:r>
              <a:rPr b="1" dirty="0"/>
              <a:t> el</a:t>
            </a:r>
            <a:r>
              <a:rPr lang="ca-ES" b="1" dirty="0"/>
              <a:t> </a:t>
            </a:r>
            <a:r>
              <a:rPr b="1" dirty="0" err="1"/>
              <a:t>asistente</a:t>
            </a:r>
            <a:r>
              <a:rPr b="1" dirty="0"/>
              <a:t>, no </a:t>
            </a:r>
            <a:r>
              <a:rPr b="1" dirty="0" err="1"/>
              <a:t>puede</a:t>
            </a:r>
            <a:r>
              <a:rPr b="1" dirty="0"/>
              <a:t> </a:t>
            </a:r>
            <a:r>
              <a:rPr b="1" dirty="0" err="1"/>
              <a:t>contestar</a:t>
            </a:r>
            <a:r>
              <a:rPr b="1" dirty="0"/>
              <a:t> lo </a:t>
            </a:r>
            <a:r>
              <a:rPr b="1" dirty="0" err="1"/>
              <a:t>que</a:t>
            </a:r>
            <a:r>
              <a:rPr b="1" dirty="0"/>
              <a:t> </a:t>
            </a:r>
            <a:r>
              <a:rPr b="1" dirty="0" err="1"/>
              <a:t>nadie</a:t>
            </a:r>
            <a:r>
              <a:rPr b="1" dirty="0"/>
              <a:t> ha </a:t>
            </a:r>
            <a:r>
              <a:rPr b="1" dirty="0" err="1"/>
              <a:t>escrito</a:t>
            </a:r>
            <a:r>
              <a:rPr b="1" dirty="0"/>
              <a:t>.</a:t>
            </a:r>
            <a:r>
              <a:rPr lang="ca-ES" b="1" dirty="0"/>
              <a:t> </a:t>
            </a:r>
            <a:endParaRPr dirty="0"/>
          </a:p>
          <a:p>
            <a:endParaRPr lang="ca-ES" dirty="0"/>
          </a:p>
          <a:p>
            <a:r>
              <a:rPr dirty="0"/>
              <a:t>ASÍ QUE EL ORDEN REAL ES AL REVÉS de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parece</a:t>
            </a:r>
            <a:r>
              <a:rPr dirty="0"/>
              <a:t>: primero se </a:t>
            </a:r>
            <a:r>
              <a:rPr dirty="0" err="1"/>
              <a:t>saca</a:t>
            </a:r>
            <a:r>
              <a:rPr dirty="0"/>
              <a:t> el</a:t>
            </a:r>
            <a:r>
              <a:rPr lang="ca-ES" dirty="0"/>
              <a:t> </a:t>
            </a:r>
            <a:r>
              <a:rPr dirty="0" err="1"/>
              <a:t>conocimiento</a:t>
            </a:r>
            <a:r>
              <a:rPr dirty="0"/>
              <a:t> de la cabeza, </a:t>
            </a:r>
            <a:r>
              <a:rPr dirty="0" err="1"/>
              <a:t>después</a:t>
            </a:r>
            <a:r>
              <a:rPr dirty="0"/>
              <a:t> se escribe, y solo </a:t>
            </a:r>
            <a:r>
              <a:rPr dirty="0" err="1"/>
              <a:t>entonces</a:t>
            </a:r>
            <a:r>
              <a:rPr dirty="0"/>
              <a:t> un </a:t>
            </a:r>
            <a:r>
              <a:rPr dirty="0" err="1"/>
              <a:t>asistente</a:t>
            </a:r>
            <a:r>
              <a:rPr lang="ca-ES" dirty="0"/>
              <a:t> p</a:t>
            </a:r>
            <a:r>
              <a:rPr dirty="0" err="1"/>
              <a:t>uede</a:t>
            </a:r>
            <a:r>
              <a:rPr dirty="0"/>
              <a:t> </a:t>
            </a:r>
            <a:r>
              <a:rPr dirty="0" err="1"/>
              <a:t>consultarlo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D3B0-B306-1582-77B1-3C182F6D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8F4EB-8379-4B89-058B-0D49286717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19BBB-2094-B96A-93F1-7CCC87FA7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A2229-D1E7-1D11-E009-3037ED12E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46718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5C1C-DD62-6584-5DDB-F75F1AEA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5A25B-B298-1928-94CD-D3C0DC3E0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ED3A3-E5F7-10EB-CAEF-8EC6D2A1C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09:08–09:17 · el </a:t>
            </a:r>
            <a:r>
              <a:rPr dirty="0" err="1"/>
              <a:t>salto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frase</a:t>
            </a:r>
            <a:endParaRPr dirty="0"/>
          </a:p>
          <a:p>
            <a:endParaRPr dirty="0"/>
          </a:p>
          <a:p>
            <a:r>
              <a:rPr dirty="0"/>
              <a:t>POR QUÉ IMPORTA LA PALABRA «SITIO»: </a:t>
            </a:r>
            <a:r>
              <a:rPr dirty="0" err="1"/>
              <a:t>porque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cambia de </a:t>
            </a:r>
            <a:r>
              <a:rPr dirty="0" err="1"/>
              <a:t>verdad</a:t>
            </a:r>
            <a:r>
              <a:rPr dirty="0"/>
              <a:t> no es</a:t>
            </a:r>
            <a:r>
              <a:rPr lang="ca-ES" dirty="0"/>
              <a:t> </a:t>
            </a:r>
            <a:r>
              <a:rPr dirty="0" err="1"/>
              <a:t>técnico</a:t>
            </a:r>
            <a:r>
              <a:rPr dirty="0"/>
              <a:t>, es </a:t>
            </a:r>
            <a:r>
              <a:rPr dirty="0" err="1"/>
              <a:t>organizativo</a:t>
            </a:r>
            <a:r>
              <a:rPr dirty="0"/>
              <a:t>. En </a:t>
            </a:r>
            <a:r>
              <a:rPr dirty="0" err="1"/>
              <a:t>cuanto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son un sitio, </a:t>
            </a:r>
            <a:r>
              <a:rPr dirty="0" err="1"/>
              <a:t>aparecen</a:t>
            </a:r>
            <a:r>
              <a:rPr lang="ca-ES" dirty="0"/>
              <a:t> </a:t>
            </a:r>
            <a:r>
              <a:rPr dirty="0" err="1"/>
              <a:t>preguntas</a:t>
            </a:r>
            <a:r>
              <a:rPr dirty="0"/>
              <a:t> </a:t>
            </a:r>
            <a:r>
              <a:rPr dirty="0" err="1"/>
              <a:t>nuevas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antes no </a:t>
            </a:r>
            <a:r>
              <a:rPr dirty="0" err="1"/>
              <a:t>existían</a:t>
            </a:r>
            <a:r>
              <a:rPr dirty="0"/>
              <a:t>: </a:t>
            </a:r>
            <a:r>
              <a:rPr dirty="0" err="1"/>
              <a:t>quién</a:t>
            </a:r>
            <a:r>
              <a:rPr dirty="0"/>
              <a:t> decide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,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retira</a:t>
            </a:r>
            <a:r>
              <a:rPr lang="ca-ES" dirty="0"/>
              <a:t> </a:t>
            </a:r>
            <a:r>
              <a:rPr dirty="0"/>
              <a:t>lo </a:t>
            </a:r>
            <a:r>
              <a:rPr dirty="0" err="1"/>
              <a:t>viejo</a:t>
            </a:r>
            <a:r>
              <a:rPr dirty="0"/>
              <a:t>, </a:t>
            </a:r>
            <a:r>
              <a:rPr dirty="0" err="1"/>
              <a:t>quién</a:t>
            </a:r>
            <a:r>
              <a:rPr dirty="0"/>
              <a:t> se </a:t>
            </a:r>
            <a:r>
              <a:rPr dirty="0" err="1"/>
              <a:t>cree</a:t>
            </a:r>
            <a:r>
              <a:rPr dirty="0"/>
              <a:t> la </a:t>
            </a:r>
            <a:r>
              <a:rPr dirty="0" err="1"/>
              <a:t>respuesta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EJEMPLO QUE LO ATERRIZA: </a:t>
            </a:r>
            <a:r>
              <a:rPr dirty="0" err="1"/>
              <a:t>si</a:t>
            </a:r>
            <a:r>
              <a:rPr dirty="0"/>
              <a:t> la </a:t>
            </a:r>
            <a:r>
              <a:rPr dirty="0" err="1"/>
              <a:t>política</a:t>
            </a:r>
            <a:r>
              <a:rPr dirty="0"/>
              <a:t> de </a:t>
            </a:r>
            <a:r>
              <a:rPr dirty="0" err="1"/>
              <a:t>devoluciones</a:t>
            </a:r>
            <a:r>
              <a:rPr dirty="0"/>
              <a:t> cambia, </a:t>
            </a:r>
            <a:r>
              <a:rPr dirty="0" err="1"/>
              <a:t>en</a:t>
            </a:r>
            <a:r>
              <a:rPr dirty="0"/>
              <a:t> S3</a:t>
            </a:r>
            <a:r>
              <a:rPr lang="ca-ES" dirty="0"/>
              <a:t> </a:t>
            </a:r>
            <a:r>
              <a:rPr dirty="0" err="1"/>
              <a:t>bastaba</a:t>
            </a:r>
            <a:r>
              <a:rPr dirty="0"/>
              <a:t> con </a:t>
            </a:r>
            <a:r>
              <a:rPr dirty="0" err="1"/>
              <a:t>adjuntar</a:t>
            </a:r>
            <a:r>
              <a:rPr dirty="0"/>
              <a:t> la </a:t>
            </a:r>
            <a:r>
              <a:rPr dirty="0" err="1"/>
              <a:t>buena</a:t>
            </a:r>
            <a:r>
              <a:rPr dirty="0"/>
              <a:t>. </a:t>
            </a:r>
            <a:r>
              <a:rPr dirty="0" err="1"/>
              <a:t>Aquí</a:t>
            </a:r>
            <a:r>
              <a:rPr dirty="0"/>
              <a:t> hay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a la </a:t>
            </a:r>
            <a:r>
              <a:rPr dirty="0" err="1"/>
              <a:t>carpeta</a:t>
            </a:r>
            <a:r>
              <a:rPr dirty="0"/>
              <a:t> y </a:t>
            </a:r>
            <a:r>
              <a:rPr dirty="0" err="1"/>
              <a:t>quitar</a:t>
            </a:r>
            <a:r>
              <a:rPr dirty="0"/>
              <a:t> la</a:t>
            </a:r>
            <a:r>
              <a:rPr lang="ca-ES" dirty="0"/>
              <a:t> </a:t>
            </a:r>
            <a:r>
              <a:rPr dirty="0" err="1"/>
              <a:t>antigua</a:t>
            </a:r>
            <a:r>
              <a:rPr dirty="0"/>
              <a:t>. Si </a:t>
            </a:r>
            <a:r>
              <a:rPr dirty="0" err="1"/>
              <a:t>nadie</a:t>
            </a:r>
            <a:r>
              <a:rPr dirty="0"/>
              <a:t> lo </a:t>
            </a:r>
            <a:r>
              <a:rPr dirty="0" err="1"/>
              <a:t>hace</a:t>
            </a:r>
            <a:r>
              <a:rPr dirty="0"/>
              <a:t>, el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</a:t>
            </a:r>
            <a:r>
              <a:rPr dirty="0" err="1"/>
              <a:t>contestando</a:t>
            </a:r>
            <a:r>
              <a:rPr dirty="0"/>
              <a:t> con </a:t>
            </a:r>
            <a:r>
              <a:rPr dirty="0" err="1"/>
              <a:t>ella</a:t>
            </a:r>
            <a:r>
              <a:rPr dirty="0"/>
              <a:t>. Deja la</a:t>
            </a:r>
            <a:r>
              <a:rPr lang="ca-ES" dirty="0"/>
              <a:t> </a:t>
            </a:r>
            <a:r>
              <a:rPr dirty="0"/>
              <a:t>idea </a:t>
            </a:r>
            <a:r>
              <a:rPr dirty="0" err="1"/>
              <a:t>plantada</a:t>
            </a:r>
            <a:r>
              <a:rPr dirty="0"/>
              <a:t>: </a:t>
            </a:r>
            <a:r>
              <a:rPr dirty="0" err="1"/>
              <a:t>vuelve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dos horas y media.</a:t>
            </a:r>
          </a:p>
          <a:p>
            <a:endParaRPr dirty="0"/>
          </a:p>
          <a:p>
            <a:r>
              <a:rPr dirty="0"/>
              <a:t>Y NO ES UNA SESIÓN SOBRE TECNOLOGÍA. </a:t>
            </a:r>
            <a:r>
              <a:rPr lang="ca-ES" dirty="0"/>
              <a:t>Lo </a:t>
            </a:r>
            <a:r>
              <a:rPr dirty="0" err="1"/>
              <a:t>que</a:t>
            </a:r>
            <a:r>
              <a:rPr dirty="0"/>
              <a:t> se</a:t>
            </a:r>
            <a:r>
              <a:rPr lang="ca-ES" dirty="0"/>
              <a:t> </a:t>
            </a:r>
            <a:r>
              <a:rPr dirty="0" err="1"/>
              <a:t>aprende</a:t>
            </a:r>
            <a:r>
              <a:rPr dirty="0"/>
              <a:t> hoy —</a:t>
            </a:r>
            <a:r>
              <a:rPr dirty="0" err="1"/>
              <a:t>qué</a:t>
            </a:r>
            <a:r>
              <a:rPr dirty="0"/>
              <a:t> meter,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pesa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,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parar</a:t>
            </a:r>
            <a:r>
              <a:rPr dirty="0"/>
              <a:t>— se decide con </a:t>
            </a:r>
            <a:r>
              <a:rPr dirty="0" err="1"/>
              <a:t>criterio</a:t>
            </a:r>
            <a:r>
              <a:rPr dirty="0"/>
              <a:t> de</a:t>
            </a:r>
            <a:r>
              <a:rPr lang="ca-ES" dirty="0"/>
              <a:t> </a:t>
            </a:r>
            <a:r>
              <a:rPr dirty="0" err="1"/>
              <a:t>oficio</a:t>
            </a:r>
            <a:r>
              <a:rPr dirty="0"/>
              <a:t>, no con </a:t>
            </a:r>
            <a:r>
              <a:rPr dirty="0" err="1"/>
              <a:t>configuración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18C62-08D9-1C0E-4238-5318B653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48029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11723-03AA-4156-1548-3F21E4DB1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120E3-0F5B-DCE1-1E7E-27F20F92D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96053-7649-9B6E-3B6E-CB1A1A5A7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2413B-FD4E-F840-8A79-83CA7CF31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05136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AE958-DAB9-0F12-5AA5-5DC4EDCB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1E1CA-121D-EF86-5427-D9FEA471E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5BDDA-A360-FBE4-470E-938745829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3C07A-6340-4B09-70E2-6FE644BA0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2266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2D744-281B-2A9B-1974-0BEF45B9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D256B-D6DA-62D8-45CB-6BC0DAF0B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F728D-4920-38E9-8059-A9A48A55F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395DD-F033-4B6A-BD52-103743A92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7662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8319-602E-722A-1ECE-1965FFC7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8B922-C4AB-BF6C-2FFF-E2A0F440A7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21C48-7A5C-01FC-1010-11DD8C3F5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 dirty="0"/>
              <a:t>GOBERNANZA DE DATOS: </a:t>
            </a:r>
            <a:r>
              <a:rPr lang="ca-ES" dirty="0" err="1"/>
              <a:t>hablar</a:t>
            </a:r>
            <a:r>
              <a:rPr lang="ca-ES" dirty="0"/>
              <a:t> un </a:t>
            </a:r>
            <a:r>
              <a:rPr lang="ca-ES" dirty="0" err="1"/>
              <a:t>poco</a:t>
            </a:r>
            <a:r>
              <a:rPr lang="ca-ES" dirty="0"/>
              <a:t> de </a:t>
            </a:r>
            <a:r>
              <a:rPr lang="ca-ES" dirty="0" err="1"/>
              <a:t>esto</a:t>
            </a:r>
            <a:r>
              <a:rPr lang="ca-ES" dirty="0"/>
              <a:t>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F36CF-CB17-55FC-6E0C-65826DE70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16289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2A35-C5D0-2E6D-9D54-06314817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47035-08DD-7D45-612F-151ED99B2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6E391-52C4-1304-71E8-1F24DC175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noProof="0" dirty="0">
                <a:solidFill>
                  <a:srgbClr val="0B1F2A"/>
                </a:solidFill>
                <a:latin typeface="Calibri"/>
              </a:rPr>
              <a:t>La pregunta difícil no es técnica: es </a:t>
            </a:r>
            <a:r>
              <a:rPr lang="es-ES" sz="1200" b="0" u="sng" noProof="0" dirty="0">
                <a:solidFill>
                  <a:srgbClr val="0B1F2A"/>
                </a:solidFill>
                <a:latin typeface="Calibri"/>
              </a:rPr>
              <a:t>organizativa</a:t>
            </a:r>
            <a:r>
              <a:rPr lang="es-ES" sz="1200" b="0" noProof="0" dirty="0">
                <a:solidFill>
                  <a:srgbClr val="0B1F2A"/>
                </a:solidFill>
                <a:latin typeface="Calibri"/>
              </a:rPr>
              <a:t>. -&gt; Suena tan lógico que parece mentira que no se entienda ni se lleve a cabo un mínimo de estructura para garantizar la gobernanza, teniendo en cuenta lo importante que es en el proceso de digitalización.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A304D-99D8-8E30-415B-E06EE1DC3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85883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B0DB-BB5C-4459-23D1-AEBDFC20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19575-5A77-9CC1-5179-FB0BCA2D4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7DF0E-D55F-0D7E-2DB8-514AF963D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JERARQUÍA DE FUENTES (11 min)</a:t>
            </a:r>
          </a:p>
          <a:p>
            <a:endParaRPr dirty="0"/>
          </a:p>
          <a:p>
            <a:r>
              <a:rPr dirty="0"/>
              <a:t>TRES MINUTOS POR NIVEL. Es la </a:t>
            </a:r>
            <a:r>
              <a:rPr dirty="0" err="1"/>
              <a:t>tabla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tarjeta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llevan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NIVEL 1 · NORMATIVO. </a:t>
            </a:r>
            <a:r>
              <a:rPr dirty="0" err="1"/>
              <a:t>Políticas</a:t>
            </a:r>
            <a:r>
              <a:rPr dirty="0"/>
              <a:t>,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vigentes</a:t>
            </a:r>
            <a:r>
              <a:rPr dirty="0"/>
              <a:t>, </a:t>
            </a:r>
            <a:r>
              <a:rPr dirty="0" err="1"/>
              <a:t>procedimientos</a:t>
            </a:r>
            <a:r>
              <a:rPr lang="ca-ES" dirty="0"/>
              <a:t> </a:t>
            </a:r>
            <a:r>
              <a:rPr dirty="0" err="1"/>
              <a:t>aprobados</a:t>
            </a:r>
            <a:r>
              <a:rPr dirty="0"/>
              <a:t>.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se DEBE </a:t>
            </a:r>
            <a:r>
              <a:rPr dirty="0" err="1"/>
              <a:t>hacer</a:t>
            </a:r>
            <a:r>
              <a:rPr dirty="0"/>
              <a:t>. Es lo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defiende</a:t>
            </a:r>
            <a:r>
              <a:rPr dirty="0"/>
              <a:t> </a:t>
            </a:r>
            <a:r>
              <a:rPr dirty="0" err="1"/>
              <a:t>delante</a:t>
            </a:r>
            <a:r>
              <a:rPr dirty="0"/>
              <a:t> de un</a:t>
            </a:r>
            <a:r>
              <a:rPr lang="ca-ES" dirty="0"/>
              <a:t> </a:t>
            </a:r>
            <a:r>
              <a:rPr dirty="0" err="1"/>
              <a:t>cliente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NIVEL 2 · OPERATIVO. El manual.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se EJECUTA. No </a:t>
            </a:r>
            <a:r>
              <a:rPr dirty="0" err="1"/>
              <a:t>contradice</a:t>
            </a:r>
            <a:r>
              <a:rPr dirty="0"/>
              <a:t> al</a:t>
            </a:r>
            <a:r>
              <a:rPr lang="ca-ES" dirty="0"/>
              <a:t> </a:t>
            </a:r>
            <a:r>
              <a:rPr dirty="0" err="1"/>
              <a:t>nivel</a:t>
            </a:r>
            <a:r>
              <a:rPr dirty="0"/>
              <a:t> 1: lo </a:t>
            </a:r>
            <a:r>
              <a:rPr dirty="0" err="1"/>
              <a:t>desarrolla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NIVEL 3 · HISTÓRICO.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pasó</a:t>
            </a:r>
            <a:r>
              <a:rPr dirty="0"/>
              <a:t> antes y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resolvió</a:t>
            </a:r>
            <a:r>
              <a:rPr dirty="0"/>
              <a:t>. Es </a:t>
            </a:r>
            <a:r>
              <a:rPr dirty="0" err="1"/>
              <a:t>utilísimo</a:t>
            </a:r>
            <a:r>
              <a:rPr dirty="0"/>
              <a:t> y es el</a:t>
            </a:r>
            <a:r>
              <a:rPr lang="ca-ES"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peligroso</a:t>
            </a:r>
            <a:r>
              <a:rPr dirty="0"/>
              <a:t>,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eso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la slide </a:t>
            </a:r>
            <a:r>
              <a:rPr dirty="0" err="1"/>
              <a:t>siguiente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EJEMPLO QUE ACLARA LOS TRES NIVELES, y es de la casa: la </a:t>
            </a:r>
            <a:r>
              <a:rPr dirty="0" err="1"/>
              <a:t>política</a:t>
            </a:r>
            <a:r>
              <a:rPr dirty="0"/>
              <a:t> dice </a:t>
            </a:r>
            <a:r>
              <a:rPr dirty="0" err="1"/>
              <a:t>qué</a:t>
            </a:r>
            <a:r>
              <a:rPr lang="ca-ES" dirty="0"/>
              <a:t> </a:t>
            </a:r>
            <a:r>
              <a:rPr dirty="0" err="1"/>
              <a:t>devoluciones</a:t>
            </a:r>
            <a:r>
              <a:rPr dirty="0"/>
              <a:t> se </a:t>
            </a:r>
            <a:r>
              <a:rPr dirty="0" err="1"/>
              <a:t>admiten</a:t>
            </a:r>
            <a:r>
              <a:rPr dirty="0"/>
              <a:t>; el manual dice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recibe</a:t>
            </a:r>
            <a:r>
              <a:rPr dirty="0"/>
              <a:t> </a:t>
            </a:r>
            <a:r>
              <a:rPr dirty="0" err="1"/>
              <a:t>físicamente</a:t>
            </a:r>
            <a:r>
              <a:rPr dirty="0"/>
              <a:t> el </a:t>
            </a:r>
            <a:r>
              <a:rPr dirty="0" err="1"/>
              <a:t>bulto</a:t>
            </a:r>
            <a:r>
              <a:rPr lang="ca-ES" dirty="0"/>
              <a:t> </a:t>
            </a:r>
            <a:r>
              <a:rPr dirty="0" err="1"/>
              <a:t>devuelto</a:t>
            </a:r>
            <a:r>
              <a:rPr dirty="0"/>
              <a:t>; el histórico dice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pasó</a:t>
            </a:r>
            <a:r>
              <a:rPr dirty="0"/>
              <a:t> las </a:t>
            </a:r>
            <a:r>
              <a:rPr dirty="0" err="1"/>
              <a:t>últimas</a:t>
            </a:r>
            <a:r>
              <a:rPr dirty="0"/>
              <a:t> </a:t>
            </a:r>
            <a:r>
              <a:rPr dirty="0" err="1"/>
              <a:t>doce</a:t>
            </a:r>
            <a:r>
              <a:rPr dirty="0"/>
              <a:t> </a:t>
            </a:r>
            <a:r>
              <a:rPr dirty="0" err="1"/>
              <a:t>veces</a:t>
            </a:r>
            <a:r>
              <a:rPr dirty="0"/>
              <a:t>. Las </a:t>
            </a:r>
            <a:r>
              <a:rPr dirty="0" err="1"/>
              <a:t>tres</a:t>
            </a:r>
            <a:r>
              <a:rPr dirty="0"/>
              <a:t> cos</a:t>
            </a:r>
            <a:r>
              <a:rPr lang="eu-ES" dirty="0"/>
              <a:t>e</a:t>
            </a:r>
            <a:r>
              <a:rPr dirty="0"/>
              <a:t>s</a:t>
            </a:r>
            <a:r>
              <a:rPr lang="ca-ES" dirty="0"/>
              <a:t> </a:t>
            </a:r>
            <a:r>
              <a:rPr dirty="0"/>
              <a:t>son </a:t>
            </a:r>
            <a:r>
              <a:rPr dirty="0" err="1"/>
              <a:t>verdad</a:t>
            </a:r>
            <a:r>
              <a:rPr dirty="0"/>
              <a:t> y no </a:t>
            </a:r>
            <a:r>
              <a:rPr dirty="0" err="1"/>
              <a:t>sirven</a:t>
            </a:r>
            <a:r>
              <a:rPr dirty="0"/>
              <a:t> para lo </a:t>
            </a:r>
            <a:r>
              <a:rPr dirty="0" err="1"/>
              <a:t>mismo</a:t>
            </a:r>
            <a:r>
              <a:rPr dirty="0"/>
              <a:t>.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bg1">
                    <a:lumMod val="50000"/>
                  </a:schemeClr>
                </a:solidFill>
              </a:rPr>
              <a:t>NotebookLM admite instrucciones personalizadas a nivel de notebook: </a:t>
            </a:r>
            <a:r>
              <a:rPr lang="es-ES" sz="1200" b="0" dirty="0">
                <a:solidFill>
                  <a:schemeClr val="bg1">
                    <a:lumMod val="50000"/>
                  </a:schemeClr>
                </a:solidFill>
              </a:rPr>
              <a:t>Esta jerarquía puede convertirse en una instrucción permanente del cuaderno: qué fuente manda, qué hacer ante conflictos y cuándo decir «no está documentado».</a:t>
            </a:r>
            <a:endParaRPr lang="eu-ES" sz="1200" b="1" dirty="0">
              <a:solidFill>
                <a:schemeClr val="bg1">
                  <a:lumMod val="50000"/>
                </a:schemeClr>
              </a:solidFill>
            </a:endParaRP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DBEA5-BEB4-2FAB-F90B-A3B8B3DC7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04523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09:36–09:47 · la frase que hay que llevarse del bloque</a:t>
            </a:r>
          </a:p>
          <a:p>
            <a:endParaRPr/>
          </a:p>
          <a:p>
            <a:r>
              <a:t>DÉJALA EN PANTALLA. Es la que más se va a necesitar dentro de dos horas.</a:t>
            </a:r>
          </a:p>
          <a:p>
            <a:endParaRPr/>
          </a:p>
          <a:p>
            <a:r>
              <a:t>POR QUÉ ES TAN PELIGROSO EL HISTÓRICO: porque una política inventada a partir</a:t>
            </a:r>
          </a:p>
          <a:p>
            <a:r>
              <a:t>de casos reales **suena mejor** que una política de verdad. Tiene ejemplos,</a:t>
            </a:r>
          </a:p>
          <a:p>
            <a:r>
              <a:t>tiene números, tiene fechas. Y no existe.</a:t>
            </a:r>
          </a:p>
          <a:p>
            <a:endParaRPr/>
          </a:p>
          <a:p>
            <a:r>
              <a:t>DILO ASÍ, que se entiende de una: es una alucinación hecha con material</a:t>
            </a:r>
          </a:p>
          <a:p>
            <a:r>
              <a:t>auténtico. Es la más difícil de detectar de todas, porque todo lo que cita es</a:t>
            </a:r>
          </a:p>
          <a:p>
            <a:r>
              <a:t>cierto — lo único falso es la conclusión.</a:t>
            </a:r>
          </a:p>
          <a:p>
            <a:endParaRPr/>
          </a:p>
          <a:p>
            <a:r>
              <a:t>EL CONTRAEJEMPLO QUE FUNCIONA en una empresa: «si las últimas diez veces</a:t>
            </a:r>
          </a:p>
          <a:p>
            <a:r>
              <a:t>llegamos tarde y nadie se quejó, ¿eso significa que se puede llegar tarde?».</a:t>
            </a:r>
          </a:p>
          <a:p>
            <a:r>
              <a:t>Nadie dice que sí.</a:t>
            </a:r>
          </a:p>
          <a:p>
            <a:endParaRPr/>
          </a:p>
          <a:p>
            <a:r>
              <a:t>CUIDADO CON EL EJEMPLO QUE ELIJAS. No uses compensaciones ni abonos: es</a:t>
            </a:r>
          </a:p>
          <a:p>
            <a:r>
              <a:t>exactamente una de las dos preguntas de la actividad, y si lo nombras aquí les</a:t>
            </a:r>
          </a:p>
          <a:p>
            <a:r>
              <a:t>estás dando la respuesta hora y media antes. El ejemplo de los retrasos vale</a:t>
            </a:r>
          </a:p>
          <a:p>
            <a:r>
              <a:t>igual y no quema nada.</a:t>
            </a:r>
          </a:p>
          <a:p>
            <a:endParaRPr/>
          </a:p>
          <a:p>
            <a:r>
              <a:t>Y LA CONSECUENCIA PRÁCTICA: hay que prohibírselo por escrito. No lo deduce</a:t>
            </a:r>
          </a:p>
          <a:p>
            <a:r>
              <a:t>solo. Está en el banco de encargos que se llevan hoy.</a:t>
            </a:r>
          </a:p>
          <a:p>
            <a:endParaRPr/>
          </a:p>
          <a:p>
            <a:r>
              <a:t>NO PONGAS todavía ningún ejemplo de la actividad. Ni compensaciones, ni</a:t>
            </a:r>
          </a:p>
          <a:p>
            <a:r>
              <a:t>importes.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23A8-A014-051D-DDF3-D39704C8D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768F2-ED6E-843C-A06D-F877E6951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806D8-3911-72D4-0D76-6DDD640B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72F14-FD6D-408B-373F-139972F70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41830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noProof="0" dirty="0"/>
              <a:t>Aquí toca hablar de las implicaciones de que ‘X trabajadores de una empresa trabajen de forma independiente y no coordinada en soluciones a nivel micro’ VS. ‘se ofrezcan soluciones transversales como la de un asistente o herramientas corporativas pensades para la mejora de la eficiencia operativa de los trabajadores (lo cual de por sí ya requiere de cierta formación + curva de aprendizaje)’. </a:t>
            </a:r>
          </a:p>
          <a:p>
            <a:endParaRPr lang="es-ES" noProof="0" dirty="0"/>
          </a:p>
          <a:p>
            <a:r>
              <a:rPr lang="es-ES" noProof="0" dirty="0"/>
              <a:t>Lo primero se puede acabar por no apreciar y puede no ayuda a aliviar cuellos de botella o fricciones a nivel empresarial.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444B2-EFF8-F5E0-97AB-AEE0DA3AD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4F6E2-6543-B265-3863-5EE47F3043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75708-33CF-600F-7F76-0493458B3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noProof="0" dirty="0"/>
              <a:t>Aquí conviene hablar de leyes y normas que afectan a EEUU vs UE con respecto al tratamiento y almacenamiento de los datos.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1491E-5AC5-A110-B6F9-5A0C06BDB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75763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2377-70F5-B65E-BA1E-4A7B185B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4F4A1-4684-4FD5-EFC1-805A4088E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84F53-7102-2E36-1C16-6675165DA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0DA93-8441-9EB7-5598-01DBC6DEA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1003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35E13-2532-4E40-4D21-EC6DCC14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6454A-A549-787A-B956-DC687F919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1E7D-84DD-DD4E-0A7F-902C6E072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CB4A4-01D3-D74A-22A1-DCC04BCB1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28678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2720-309D-2A4C-4364-72D69265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194A5-E3D5-55A6-767D-D02C48971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DBC06-6744-6692-2AAF-A24E3DCBB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LA FUENTE EN LA RESPUESTA · va con el bloque</a:t>
            </a:r>
          </a:p>
          <a:p>
            <a:endParaRPr lang="es-ES" dirty="0"/>
          </a:p>
          <a:p>
            <a:r>
              <a:rPr lang="es-ES" b="1" dirty="0"/>
              <a:t>¿puedes abrir el documento y comprobarlo?</a:t>
            </a:r>
            <a:r>
              <a:rPr lang="es-ES" dirty="0"/>
              <a:t> Si no puedes, la cita es decoración.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ANTICIPAR: </a:t>
            </a:r>
            <a:r>
              <a:rPr lang="es-ES" b="1" dirty="0"/>
              <a:t>a veces cita un documento que existe pero un apartado que no</a:t>
            </a:r>
            <a:r>
              <a:rPr lang="es-ES" dirty="0"/>
              <a:t>. Por eso el paso de abrir y comprobar no es opcional.</a:t>
            </a:r>
          </a:p>
          <a:p>
            <a:endParaRPr lang="es-ES" dirty="0"/>
          </a:p>
          <a:p>
            <a:r>
              <a:rPr lang="es-ES" dirty="0"/>
              <a:t>UN EFECTO SECUNDARIO QUE MERECE NOMBRARSE: cuando le obligas a citar, empieza a decir «no lo sé» mucho más a menudo. No es casualidad — es que ya no puede rellenar huecos sin declarar un origen que no existe.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0018-0AD2-A22B-2D60-541BFD896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0961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10:15–10:24 · VERSIONES EN CONFLICTO (9 min)</a:t>
            </a:r>
          </a:p>
          <a:p>
            <a:endParaRPr/>
          </a:p>
          <a:p>
            <a:r>
              <a:t>ESTO PASA EN TODAS LAS EMPRESAS y no hace falta convencer a nadie: una</a:t>
            </a:r>
          </a:p>
          <a:p>
            <a:r>
              <a:t>carpeta compartida acumula versiones y nadie retira las viejas.</a:t>
            </a:r>
          </a:p>
          <a:p>
            <a:endParaRPr/>
          </a:p>
          <a:p>
            <a:r>
              <a:t>LOS CUATRO PASOS, dos minutos cada uno. El primero es el que más falla:</a:t>
            </a:r>
          </a:p>
          <a:p>
            <a:r>
              <a:t>**darse cuenta**. Un asistente que elige uno de los dos y contesta con aplomo</a:t>
            </a:r>
          </a:p>
          <a:p>
            <a:r>
              <a:t>no está mintiendo, pero te está ocultando que había un conflicto.</a:t>
            </a:r>
          </a:p>
          <a:p>
            <a:endParaRPr/>
          </a:p>
          <a:p>
            <a:r>
              <a:t>LA TRAMPA QUE HAY QUE NOMBRAR: que acierte no basta. Si elige el bueno por</a:t>
            </a:r>
          </a:p>
          <a:p>
            <a:r>
              <a:t>casualidad, mañana con otro par de documentos elegirá el malo. La pregunta que</a:t>
            </a:r>
          </a:p>
          <a:p>
            <a:r>
              <a:t>hay que hacerle siempre es **«¿cómo sabes que esa es la vigente?»**.</a:t>
            </a:r>
          </a:p>
          <a:p>
            <a:endParaRPr/>
          </a:p>
          <a:p>
            <a:r>
              <a:t>LO QUE VAN A VIVIR HOY, y no lo adelantes: durante la actividad va a aparecer</a:t>
            </a:r>
          </a:p>
          <a:p>
            <a:r>
              <a:t>un documento más en la carpeta. No digas que es viejo, no digas que es una</a:t>
            </a:r>
          </a:p>
          <a:p>
            <a:r>
              <a:t>trampa. Solo «ha aparecido otro documento».</a:t>
            </a:r>
          </a:p>
          <a:p>
            <a:endParaRPr/>
          </a:p>
          <a:p>
            <a:r>
              <a:t>SI ALGUIEN PREGUNTA cómo se evita esto de verdad: no se evita con IA. Se evita</a:t>
            </a:r>
          </a:p>
          <a:p>
            <a:r>
              <a:t>teniendo a alguien responsable de qué documentos están vigentes. Es una</a:t>
            </a:r>
          </a:p>
          <a:p>
            <a:r>
              <a:t>conversación de organización, y merece la pena decirlo.</a:t>
            </a:r>
          </a:p>
          <a:p>
            <a:endParaRPr/>
          </a:p>
          <a:p>
            <a:r>
              <a:t>NO DIGAS de qué documento se trata, ni qué plazos hay en juego.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10:01–10:11 · DOCUMENTADO · INFERIDO · NO DOCUMENTADO (10 min)</a:t>
            </a:r>
          </a:p>
          <a:p>
            <a:endParaRPr dirty="0"/>
          </a:p>
          <a:p>
            <a:r>
              <a:rPr dirty="0"/>
              <a:t>TRES MINUTOS POR ESTADO. Es la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mitad</a:t>
            </a:r>
            <a:r>
              <a:rPr dirty="0"/>
              <a:t> de la </a:t>
            </a:r>
            <a:r>
              <a:rPr dirty="0" err="1"/>
              <a:t>tarjeta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PRIMERO: </a:t>
            </a:r>
            <a:r>
              <a:rPr dirty="0" err="1"/>
              <a:t>responde</a:t>
            </a:r>
            <a:r>
              <a:rPr dirty="0"/>
              <a:t> y </a:t>
            </a:r>
            <a:r>
              <a:rPr dirty="0" err="1"/>
              <a:t>cita</a:t>
            </a:r>
            <a:r>
              <a:rPr dirty="0"/>
              <a:t>, y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abrir</a:t>
            </a:r>
            <a:r>
              <a:rPr dirty="0"/>
              <a:t> y </a:t>
            </a:r>
            <a:r>
              <a:rPr dirty="0" err="1"/>
              <a:t>comprobar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SEGUNDO es el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se </a:t>
            </a:r>
            <a:r>
              <a:rPr dirty="0" err="1"/>
              <a:t>malinterpreta</a:t>
            </a:r>
            <a:r>
              <a:rPr dirty="0"/>
              <a:t>. </a:t>
            </a:r>
            <a:r>
              <a:rPr dirty="0" err="1"/>
              <a:t>Inferir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prohibido</a:t>
            </a:r>
            <a:r>
              <a:rPr dirty="0"/>
              <a:t>: est</a:t>
            </a:r>
            <a:r>
              <a:rPr lang="eu-ES" dirty="0"/>
              <a:t>à</a:t>
            </a:r>
            <a:r>
              <a:rPr lang="ca-ES" dirty="0"/>
              <a:t> </a:t>
            </a:r>
            <a:r>
              <a:rPr dirty="0" err="1"/>
              <a:t>prohibido</a:t>
            </a:r>
            <a:r>
              <a:rPr dirty="0"/>
              <a:t> </a:t>
            </a:r>
            <a:r>
              <a:rPr dirty="0" err="1"/>
              <a:t>inferir</a:t>
            </a:r>
            <a:r>
              <a:rPr dirty="0"/>
              <a:t> </a:t>
            </a:r>
            <a:r>
              <a:rPr b="1" dirty="0"/>
              <a:t>sin </a:t>
            </a:r>
            <a:r>
              <a:rPr b="1" dirty="0" err="1"/>
              <a:t>decirlo</a:t>
            </a:r>
            <a:r>
              <a:rPr dirty="0"/>
              <a:t>. «El </a:t>
            </a:r>
            <a:r>
              <a:rPr dirty="0" err="1"/>
              <a:t>documento</a:t>
            </a:r>
            <a:r>
              <a:rPr dirty="0"/>
              <a:t> dice X; de ahí </a:t>
            </a:r>
            <a:r>
              <a:rPr dirty="0" err="1"/>
              <a:t>yo</a:t>
            </a:r>
            <a:r>
              <a:rPr dirty="0"/>
              <a:t> </a:t>
            </a:r>
            <a:r>
              <a:rPr dirty="0" err="1"/>
              <a:t>deduzco</a:t>
            </a:r>
            <a:r>
              <a:rPr dirty="0"/>
              <a:t> Y»</a:t>
            </a:r>
            <a:r>
              <a:rPr lang="ca-ES" dirty="0"/>
              <a:t> </a:t>
            </a:r>
            <a:r>
              <a:rPr dirty="0"/>
              <a:t>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excelente</a:t>
            </a:r>
            <a:r>
              <a:rPr dirty="0"/>
              <a:t>. «Y» a </a:t>
            </a:r>
            <a:r>
              <a:rPr dirty="0" err="1"/>
              <a:t>secas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trampa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EL TERCERO es el </a:t>
            </a:r>
            <a:r>
              <a:rPr dirty="0" err="1"/>
              <a:t>que</a:t>
            </a:r>
            <a:r>
              <a:rPr dirty="0"/>
              <a:t> hay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reencuadrar</a:t>
            </a:r>
            <a:r>
              <a:rPr dirty="0"/>
              <a:t>, y </a:t>
            </a:r>
            <a:r>
              <a:rPr dirty="0" err="1"/>
              <a:t>aquí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la </a:t>
            </a:r>
            <a:r>
              <a:rPr dirty="0" err="1"/>
              <a:t>mitad</a:t>
            </a:r>
            <a:r>
              <a:rPr dirty="0"/>
              <a:t> del valor de</a:t>
            </a:r>
            <a:r>
              <a:rPr lang="ca-ES" dirty="0"/>
              <a:t> </a:t>
            </a:r>
            <a:r>
              <a:rPr dirty="0"/>
              <a:t>la </a:t>
            </a:r>
            <a:r>
              <a:rPr dirty="0" err="1"/>
              <a:t>sesión</a:t>
            </a:r>
            <a:r>
              <a:rPr dirty="0"/>
              <a:t>. Mucha </a:t>
            </a:r>
            <a:r>
              <a:rPr dirty="0" err="1"/>
              <a:t>gente</a:t>
            </a:r>
            <a:r>
              <a:rPr dirty="0"/>
              <a:t> </a:t>
            </a:r>
            <a:r>
              <a:rPr dirty="0" err="1"/>
              <a:t>llega</a:t>
            </a:r>
            <a:r>
              <a:rPr dirty="0"/>
              <a:t> </a:t>
            </a:r>
            <a:r>
              <a:rPr dirty="0" err="1"/>
              <a:t>pensando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dice «no lo </a:t>
            </a:r>
            <a:r>
              <a:rPr dirty="0" err="1"/>
              <a:t>sé</a:t>
            </a:r>
            <a:r>
              <a:rPr dirty="0"/>
              <a:t>» es</a:t>
            </a:r>
            <a:r>
              <a:rPr lang="ca-ES" dirty="0"/>
              <a:t> </a:t>
            </a:r>
            <a:r>
              <a:rPr dirty="0"/>
              <a:t>un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malo</a:t>
            </a:r>
            <a:r>
              <a:rPr dirty="0"/>
              <a:t>. </a:t>
            </a:r>
            <a:r>
              <a:rPr b="1" dirty="0"/>
              <a:t>Es </a:t>
            </a:r>
            <a:r>
              <a:rPr b="1" dirty="0" err="1"/>
              <a:t>exactamente</a:t>
            </a:r>
            <a:r>
              <a:rPr b="1" dirty="0"/>
              <a:t> al </a:t>
            </a:r>
            <a:r>
              <a:rPr b="1" dirty="0" err="1"/>
              <a:t>revés</a:t>
            </a:r>
            <a:r>
              <a:rPr b="1" dirty="0"/>
              <a:t>.</a:t>
            </a:r>
            <a:endParaRPr dirty="0"/>
          </a:p>
          <a:p>
            <a:endParaRPr dirty="0"/>
          </a:p>
          <a:p>
            <a:r>
              <a:rPr dirty="0"/>
              <a:t>DILO ASÍ: un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inventa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política</a:t>
            </a:r>
            <a:r>
              <a:rPr dirty="0"/>
              <a:t> es </a:t>
            </a:r>
            <a:r>
              <a:rPr dirty="0" err="1"/>
              <a:t>peor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ten</a:t>
            </a:r>
            <a:r>
              <a:rPr lang="ca-ES" dirty="0"/>
              <a:t>e</a:t>
            </a:r>
            <a:r>
              <a:rPr dirty="0"/>
              <a:t>r</a:t>
            </a:r>
            <a:r>
              <a:rPr lang="ca-ES" dirty="0"/>
              <a:t> </a:t>
            </a:r>
            <a:r>
              <a:rPr dirty="0" err="1"/>
              <a:t>asistente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suena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 de </a:t>
            </a:r>
            <a:r>
              <a:rPr dirty="0" err="1"/>
              <a:t>seguro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dos </a:t>
            </a:r>
            <a:r>
              <a:rPr dirty="0" err="1"/>
              <a:t>casos</a:t>
            </a:r>
            <a:r>
              <a:rPr dirty="0"/>
              <a:t>. La </a:t>
            </a:r>
            <a:r>
              <a:rPr dirty="0" err="1"/>
              <a:t>diferencia</a:t>
            </a:r>
            <a:r>
              <a:rPr dirty="0"/>
              <a:t> no se</a:t>
            </a:r>
            <a:r>
              <a:rPr lang="ca-ES" dirty="0"/>
              <a:t> </a:t>
            </a:r>
            <a:r>
              <a:rPr dirty="0"/>
              <a:t>nota </a:t>
            </a:r>
            <a:r>
              <a:rPr dirty="0" err="1"/>
              <a:t>leyendo</a:t>
            </a:r>
            <a:r>
              <a:rPr dirty="0"/>
              <a:t> la </a:t>
            </a:r>
            <a:r>
              <a:rPr dirty="0" err="1"/>
              <a:t>respuesta</a:t>
            </a:r>
            <a:r>
              <a:rPr dirty="0"/>
              <a:t>: se nota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llega</a:t>
            </a:r>
            <a:r>
              <a:rPr dirty="0"/>
              <a:t> la </a:t>
            </a:r>
            <a:r>
              <a:rPr dirty="0" err="1"/>
              <a:t>reclamación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Y AÑADE LO QUE COMPLETA LA NEGATIVA: </a:t>
            </a:r>
            <a:r>
              <a:rPr lang="ca-ES" dirty="0"/>
              <a:t>si </a:t>
            </a:r>
            <a:r>
              <a:rPr dirty="0"/>
              <a:t>«no lo </a:t>
            </a:r>
            <a:r>
              <a:rPr dirty="0" err="1"/>
              <a:t>sé</a:t>
            </a:r>
            <a:r>
              <a:rPr lang="ca-ES" dirty="0"/>
              <a:t> va </a:t>
            </a:r>
            <a:r>
              <a:rPr lang="ca-ES" dirty="0" err="1"/>
              <a:t>acompañado</a:t>
            </a:r>
            <a:r>
              <a:rPr lang="ca-ES" dirty="0"/>
              <a:t> de </a:t>
            </a:r>
            <a:r>
              <a:rPr b="1" dirty="0"/>
              <a:t>a </a:t>
            </a:r>
            <a:r>
              <a:rPr b="1" dirty="0" err="1"/>
              <a:t>quién</a:t>
            </a:r>
            <a:r>
              <a:rPr b="1" dirty="0"/>
              <a:t> </a:t>
            </a:r>
            <a:r>
              <a:rPr b="1" dirty="0" err="1"/>
              <a:t>preguntárselo</a:t>
            </a:r>
            <a:r>
              <a:rPr lang="ca-ES" b="0" dirty="0"/>
              <a:t>, </a:t>
            </a:r>
            <a:r>
              <a:rPr lang="ca-ES" b="0" dirty="0" err="1"/>
              <a:t>mejor</a:t>
            </a:r>
            <a:r>
              <a:rPr dirty="0"/>
              <a:t>. Un «no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documentado</a:t>
            </a:r>
            <a:r>
              <a:rPr dirty="0"/>
              <a:t>, </a:t>
            </a:r>
            <a:r>
              <a:rPr dirty="0" err="1"/>
              <a:t>pregúntalo</a:t>
            </a:r>
            <a:r>
              <a:rPr dirty="0"/>
              <a:t> a</a:t>
            </a:r>
            <a:r>
              <a:rPr lang="ca-ES" dirty="0"/>
              <a:t> </a:t>
            </a:r>
            <a:r>
              <a:rPr dirty="0" err="1"/>
              <a:t>Operaciones</a:t>
            </a:r>
            <a:r>
              <a:rPr dirty="0"/>
              <a:t>»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; un «no lo </a:t>
            </a:r>
            <a:r>
              <a:rPr dirty="0" err="1"/>
              <a:t>sé</a:t>
            </a:r>
            <a:r>
              <a:rPr dirty="0"/>
              <a:t>» a </a:t>
            </a:r>
            <a:r>
              <a:rPr dirty="0" err="1"/>
              <a:t>secas</a:t>
            </a:r>
            <a:r>
              <a:rPr dirty="0"/>
              <a:t>,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EXPLICAR A11 Y A1</a:t>
            </a:r>
            <a:r>
              <a:rPr lang="ca-ES" dirty="0"/>
              <a:t>2</a:t>
            </a:r>
            <a:endParaRPr dirty="0"/>
          </a:p>
          <a:p>
            <a:endParaRPr dirty="0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s-ES" sz="1200" dirty="0">
                <a:solidFill>
                  <a:srgbClr val="5E6A70"/>
                </a:solidFill>
                <a:latin typeface="Calibri"/>
              </a:rPr>
              <a:t>A11 = gobernar un asistente: qué fuente manda cuando varias fuentes reales compiten.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s-ES" sz="1200" dirty="0">
                <a:solidFill>
                  <a:srgbClr val="5E6A70"/>
                </a:solidFill>
                <a:latin typeface="Calibri"/>
              </a:rPr>
              <a:t>A12 = convertir una base de conocimiento gobernada en un producto útil para alguien concreto.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lang="es-ES" sz="1200" dirty="0">
              <a:solidFill>
                <a:srgbClr val="5E6A70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La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segunda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mitad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ya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no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prueba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si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NotebookLM “sabe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contestar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”.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Prueba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si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el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conocimiento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está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suficientemente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gobernado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para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producir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respuestas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y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artefactos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 </a:t>
            </a:r>
            <a:r>
              <a:rPr lang="en-US" sz="1200" b="0" i="1" u="none" strike="noStrike" dirty="0" err="1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defendibles</a:t>
            </a:r>
            <a:r>
              <a:rPr lang="en-US" sz="1200" b="0" i="1" u="none" strike="noStrike" dirty="0">
                <a:solidFill>
                  <a:srgbClr val="0B2330"/>
                </a:solidFill>
                <a:effectLst/>
                <a:uFillTx/>
                <a:latin typeface="+mn-lt"/>
                <a:ea typeface="Apto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 dirty="0"/>
              <a:t>E</a:t>
            </a:r>
            <a:r>
              <a:rPr dirty="0"/>
              <a:t>n parejas</a:t>
            </a:r>
            <a:r>
              <a:rPr lang="ca-ES" dirty="0"/>
              <a:t> </a:t>
            </a:r>
            <a:r>
              <a:rPr lang="ca-ES" dirty="0" err="1"/>
              <a:t>mejor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0C636-32A9-2F82-B10B-9B75E77E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DA918-521E-420C-C9BD-197E1EE68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48E90-7BF9-2238-0319-F452CCC2C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E7938-ACE5-C0B6-2AF6-176269A7D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1110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 dirty="0" err="1"/>
              <a:t>Pueden</a:t>
            </a:r>
            <a:r>
              <a:rPr lang="ca-ES" dirty="0"/>
              <a:t> </a:t>
            </a:r>
            <a:r>
              <a:rPr lang="ca-ES" dirty="0" err="1"/>
              <a:t>hacerlo</a:t>
            </a:r>
            <a:r>
              <a:rPr lang="ca-ES" dirty="0"/>
              <a:t> en </a:t>
            </a:r>
            <a:r>
              <a:rPr lang="ca-ES" dirty="0" err="1"/>
              <a:t>parejas</a:t>
            </a:r>
            <a:r>
              <a:rPr lang="ca-ES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12:50–13:00 · CIERRE (10 min)</a:t>
            </a:r>
          </a:p>
          <a:p>
            <a:endParaRPr dirty="0"/>
          </a:p>
          <a:p>
            <a:r>
              <a:rPr dirty="0"/>
              <a:t>LAS DOS IDEAS, un </a:t>
            </a:r>
            <a:r>
              <a:rPr dirty="0" err="1"/>
              <a:t>minuto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. Son las dos de la </a:t>
            </a:r>
            <a:r>
              <a:rPr dirty="0" err="1"/>
              <a:t>tarjeta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RECUPERA LA PIZARRA de las </a:t>
            </a:r>
            <a:r>
              <a:rPr dirty="0" err="1"/>
              <a:t>nueve</a:t>
            </a:r>
            <a:r>
              <a:rPr dirty="0"/>
              <a:t>, la de lo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preguntan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las</a:t>
            </a:r>
            <a:r>
              <a:rPr lang="ca-ES" dirty="0"/>
              <a:t> </a:t>
            </a:r>
            <a:r>
              <a:rPr dirty="0" err="1"/>
              <a:t>semanas</a:t>
            </a:r>
            <a:r>
              <a:rPr dirty="0"/>
              <a:t>. Y la </a:t>
            </a:r>
            <a:r>
              <a:rPr dirty="0" err="1"/>
              <a:t>pregunta</a:t>
            </a:r>
            <a:r>
              <a:rPr dirty="0"/>
              <a:t>: «¿</a:t>
            </a:r>
            <a:r>
              <a:rPr dirty="0" err="1"/>
              <a:t>cuáles</a:t>
            </a:r>
            <a:r>
              <a:rPr dirty="0"/>
              <a:t> de </a:t>
            </a:r>
            <a:r>
              <a:rPr dirty="0" err="1"/>
              <a:t>esas</a:t>
            </a:r>
            <a:r>
              <a:rPr dirty="0"/>
              <a:t> </a:t>
            </a:r>
            <a:r>
              <a:rPr dirty="0" err="1"/>
              <a:t>contestaría</a:t>
            </a:r>
            <a:r>
              <a:rPr dirty="0"/>
              <a:t> un </a:t>
            </a:r>
            <a:r>
              <a:rPr dirty="0" err="1"/>
              <a:t>asistente</a:t>
            </a:r>
            <a:r>
              <a:rPr dirty="0"/>
              <a:t> con </a:t>
            </a:r>
            <a:r>
              <a:rPr dirty="0" err="1"/>
              <a:t>los</a:t>
            </a:r>
            <a:r>
              <a:rPr lang="ca-ES"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tenéis</a:t>
            </a:r>
            <a:r>
              <a:rPr dirty="0"/>
              <a:t> hoy?».</a:t>
            </a:r>
          </a:p>
          <a:p>
            <a:endParaRPr dirty="0"/>
          </a:p>
          <a:p>
            <a:r>
              <a:rPr dirty="0"/>
              <a:t>EL PUENTE A S7, sin </a:t>
            </a:r>
            <a:r>
              <a:rPr dirty="0" err="1"/>
              <a:t>adelantar</a:t>
            </a:r>
            <a:r>
              <a:rPr dirty="0"/>
              <a:t> nada: hoy el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contesta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le</a:t>
            </a:r>
            <a:r>
              <a:rPr lang="ca-ES" dirty="0"/>
              <a:t> </a:t>
            </a:r>
            <a:r>
              <a:rPr dirty="0" err="1"/>
              <a:t>preguntas</a:t>
            </a:r>
            <a:r>
              <a:rPr dirty="0"/>
              <a:t>. El martes la </a:t>
            </a:r>
            <a:r>
              <a:rPr dirty="0" err="1"/>
              <a:t>pregunta</a:t>
            </a:r>
            <a:r>
              <a:rPr dirty="0"/>
              <a:t> es </a:t>
            </a:r>
            <a:r>
              <a:rPr dirty="0" err="1"/>
              <a:t>otra</a:t>
            </a:r>
            <a:r>
              <a:rPr dirty="0"/>
              <a:t>: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cosas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pasar sin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nadie</a:t>
            </a:r>
            <a:r>
              <a:rPr lang="ca-ES" dirty="0"/>
              <a:t> </a:t>
            </a:r>
            <a:r>
              <a:rPr dirty="0" err="1"/>
              <a:t>pregunte</a:t>
            </a:r>
            <a:r>
              <a:rPr dirty="0"/>
              <a:t>, y </a:t>
            </a:r>
            <a:r>
              <a:rPr dirty="0" err="1"/>
              <a:t>cuáles</a:t>
            </a:r>
            <a:r>
              <a:rPr dirty="0"/>
              <a:t> no </a:t>
            </a:r>
            <a:r>
              <a:rPr dirty="0" err="1"/>
              <a:t>deberían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‹zk.›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10454335" cy="214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2000" b="0" noProof="0">
                <a:solidFill>
                  <a:srgbClr val="DDE6E2"/>
                </a:solidFill>
                <a:latin typeface="Calibri"/>
              </a:rPr>
              <a:t>Inteligencia Artificial aplicada a la Logística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lang="es-ES" sz="6000" b="1" noProof="0" dirty="0">
                <a:solidFill>
                  <a:srgbClr val="FFFFFF"/>
                </a:solidFill>
                <a:latin typeface="Calibri Light"/>
              </a:rPr>
              <a:t>Asistentes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lang="es-ES" sz="2800" b="0" noProof="0" dirty="0">
                <a:solidFill>
                  <a:srgbClr val="DDE6E2"/>
                </a:solidFill>
                <a:latin typeface="Calibri"/>
              </a:rPr>
              <a:t>Del adjunto puntual al conocimiento que se consulta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623560"/>
            <a:ext cx="10454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FB8B0"/>
                </a:solidFill>
                <a:latin typeface="Calibri"/>
              </a:rPr>
              <a:t>Jueves 8 de octubre de 2026  ·  Cámara de Álava · Vitoria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CC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5" cy="1046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4400" b="1" noProof="0" dirty="0">
                <a:solidFill>
                  <a:srgbClr val="0B1F2A"/>
                </a:solidFill>
                <a:latin typeface="Calibri Light"/>
              </a:rPr>
              <a:t>Ya sabemos preguntar a documentos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600" b="0" noProof="0" dirty="0">
                <a:solidFill>
                  <a:srgbClr val="5E6A70"/>
                </a:solidFill>
                <a:latin typeface="Calibri"/>
              </a:rPr>
              <a:t>Hoy no repetimos NotebookLM: damos un paso más.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99683"/>
            <a:ext cx="1463040" cy="3810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832" y="2210825"/>
            <a:ext cx="10454335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1" dirty="0">
                <a:solidFill>
                  <a:srgbClr val="0B1F2A"/>
                </a:solidFill>
                <a:latin typeface="Calibri"/>
              </a:rPr>
              <a:t>—</a:t>
            </a:r>
            <a:r>
              <a:rPr lang="es-ES" sz="2800" b="1" dirty="0">
                <a:solidFill>
                  <a:srgbClr val="0B1F2A"/>
                </a:solidFill>
                <a:latin typeface="Calibri"/>
              </a:rPr>
              <a:t>Ya hemos cargado fuentes, seleccionado documentos y comprobado citas.</a:t>
            </a:r>
          </a:p>
          <a:p>
            <a:pPr>
              <a:spcAft>
                <a:spcPts val="1400"/>
              </a:spcAft>
            </a:pPr>
            <a:r>
              <a:rPr lang="eu-ES" sz="2800" b="1" dirty="0">
                <a:solidFill>
                  <a:srgbClr val="0B1F2A"/>
                </a:solidFill>
              </a:rPr>
              <a:t>—</a:t>
            </a:r>
            <a:r>
              <a:rPr lang="es-ES" sz="2800" b="1" dirty="0">
                <a:solidFill>
                  <a:srgbClr val="0B1F2A"/>
                </a:solidFill>
                <a:latin typeface="Calibri"/>
              </a:rPr>
              <a:t>Hoy la pregunta no es “cómo se usa”, sino “qué cambia cuando esto se queda funcionando”.</a:t>
            </a:r>
            <a:r>
              <a:rPr sz="2800" b="1" dirty="0">
                <a:solidFill>
                  <a:srgbClr val="0B1F2A"/>
                </a:solidFill>
                <a:latin typeface="Calibri"/>
              </a:rPr>
              <a:t>   </a:t>
            </a:r>
          </a:p>
          <a:p>
            <a:pPr>
              <a:spcAft>
                <a:spcPts val="1400"/>
              </a:spcAft>
            </a:pPr>
            <a:r>
              <a:rPr lang="es-ES" sz="2800" dirty="0">
                <a:solidFill>
                  <a:srgbClr val="5E6A70"/>
                </a:solidFill>
                <a:latin typeface="Calibri"/>
              </a:rPr>
              <a:t>De tarea puntual a conocimiento reutilizable.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9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615" y="63825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5255" y="844439"/>
            <a:ext cx="10454335" cy="157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lang="es-ES" sz="6000" b="1" noProof="0" dirty="0">
                <a:solidFill>
                  <a:srgbClr val="FFFFFF"/>
                </a:solidFill>
                <a:latin typeface="Calibri Light"/>
              </a:rPr>
              <a:t>De un adjunto a un asistente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s-ES" sz="2800" b="0" noProof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Qué hace falta para que una carpeta conteste preguntas</a:t>
            </a:r>
          </a:p>
        </p:txBody>
      </p:sp>
      <p:pic>
        <p:nvPicPr>
          <p:cNvPr id="7" name="Irudia 6">
            <a:extLst>
              <a:ext uri="{FF2B5EF4-FFF2-40B4-BE49-F238E27FC236}">
                <a16:creationId xmlns:a16="http://schemas.microsoft.com/office/drawing/2014/main" id="{D9331125-7A1B-984E-57E0-B23E7F5BA2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0" t="18175" r="1091" b="15533"/>
          <a:stretch>
            <a:fillRect/>
          </a:stretch>
        </p:blipFill>
        <p:spPr>
          <a:xfrm>
            <a:off x="441423" y="2955238"/>
            <a:ext cx="11309154" cy="2563096"/>
          </a:xfrm>
          <a:prstGeom prst="rect">
            <a:avLst/>
          </a:prstGeom>
        </p:spPr>
      </p:pic>
      <p:sp>
        <p:nvSpPr>
          <p:cNvPr id="6" name="TestuKoadroa 5">
            <a:extLst>
              <a:ext uri="{FF2B5EF4-FFF2-40B4-BE49-F238E27FC236}">
                <a16:creationId xmlns:a16="http://schemas.microsoft.com/office/drawing/2014/main" id="{D1D5290C-118E-A246-A7C4-E3D72F7A1286}"/>
              </a:ext>
            </a:extLst>
          </p:cNvPr>
          <p:cNvSpPr txBox="1"/>
          <p:nvPr/>
        </p:nvSpPr>
        <p:spPr>
          <a:xfrm>
            <a:off x="715255" y="5840571"/>
            <a:ext cx="322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>
                <a:solidFill>
                  <a:schemeClr val="bg1">
                    <a:lumMod val="95000"/>
                  </a:schemeClr>
                </a:solidFill>
              </a:rPr>
              <a:t>Recordad Tarjeta_S1.pdf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9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0641" y="638251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FFFFFF"/>
                </a:solidFill>
                <a:latin typeface="Calibri"/>
              </a:rPr>
              <a:t>4</a:t>
            </a:r>
            <a:endParaRPr sz="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6610" y="885456"/>
            <a:ext cx="11169817" cy="157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lang="es-ES" sz="6000" b="1" noProof="0" dirty="0">
                <a:solidFill>
                  <a:srgbClr val="FFFFFF"/>
                </a:solidFill>
                <a:latin typeface="Calibri Light"/>
              </a:rPr>
              <a:t>Y cuando no hay ningún documento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s-ES" sz="2800" b="0" noProof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El problema al revés: el conocimiento que solo está en una cabeza</a:t>
            </a:r>
          </a:p>
        </p:txBody>
      </p:sp>
      <p:pic>
        <p:nvPicPr>
          <p:cNvPr id="7" name="Irudia 6">
            <a:extLst>
              <a:ext uri="{FF2B5EF4-FFF2-40B4-BE49-F238E27FC236}">
                <a16:creationId xmlns:a16="http://schemas.microsoft.com/office/drawing/2014/main" id="{E6E5CA28-E005-BC13-1B9B-9B69D08F5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3" t="9007" r="3040" b="10706"/>
          <a:stretch>
            <a:fillRect/>
          </a:stretch>
        </p:blipFill>
        <p:spPr>
          <a:xfrm>
            <a:off x="820910" y="2899003"/>
            <a:ext cx="10550180" cy="30282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0641" y="638251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5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809801"/>
            <a:ext cx="2011680" cy="38100"/>
          </a:xfrm>
          <a:prstGeom prst="rect">
            <a:avLst/>
          </a:prstGeom>
          <a:solidFill>
            <a:srgbClr val="164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221281"/>
            <a:ext cx="1055145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164F46"/>
                </a:solidFill>
                <a:latin typeface="Calibri Light"/>
              </a:rPr>
              <a:t>Si el conocimiento no está escrito, antes de construir un asistente hay que sacarlo de la cabeza de quien lo sabe.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1800" b="0" dirty="0">
                <a:solidFill>
                  <a:srgbClr val="0B1F2A"/>
                </a:solidFill>
                <a:latin typeface="Calibri"/>
              </a:rPr>
              <a:t>Aquí la IA aporta más valor preguntando primero que redactando de entrada.</a:t>
            </a:r>
            <a:endParaRPr sz="1800" b="0" dirty="0">
              <a:solidFill>
                <a:srgbClr val="0B1F2A"/>
              </a:solidFill>
              <a:latin typeface="Calibri"/>
            </a:endParaRPr>
          </a:p>
        </p:txBody>
      </p:sp>
      <p:pic>
        <p:nvPicPr>
          <p:cNvPr id="10" name="Irudia 9">
            <a:extLst>
              <a:ext uri="{FF2B5EF4-FFF2-40B4-BE49-F238E27FC236}">
                <a16:creationId xmlns:a16="http://schemas.microsoft.com/office/drawing/2014/main" id="{66C59376-E1B1-622E-192B-32D60BC1D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05" b="9896"/>
          <a:stretch>
            <a:fillRect/>
          </a:stretch>
        </p:blipFill>
        <p:spPr>
          <a:xfrm>
            <a:off x="891539" y="3429000"/>
            <a:ext cx="10408615" cy="26576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08B9-1938-5E6B-4837-44B86B70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FAD2CA-5D9B-F375-65BC-50A85BC9C42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C5AAB-D4E0-039B-C937-762ABE925787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40CC3-B010-FDB3-9245-B191CFD06502}"/>
              </a:ext>
            </a:extLst>
          </p:cNvPr>
          <p:cNvSpPr txBox="1"/>
          <p:nvPr/>
        </p:nvSpPr>
        <p:spPr>
          <a:xfrm>
            <a:off x="11080640" y="6382512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FFFFFF"/>
                </a:solidFill>
                <a:latin typeface="Calibri"/>
              </a:rPr>
              <a:t>5</a:t>
            </a:r>
            <a:endParaRPr sz="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711C5-D142-288C-B624-97B07A99F23C}"/>
              </a:ext>
            </a:extLst>
          </p:cNvPr>
          <p:cNvSpPr txBox="1"/>
          <p:nvPr/>
        </p:nvSpPr>
        <p:spPr>
          <a:xfrm>
            <a:off x="715255" y="844439"/>
            <a:ext cx="1077724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lang="es-ES" sz="4000" b="1" dirty="0">
                <a:solidFill>
                  <a:srgbClr val="164F46"/>
                </a:solidFill>
                <a:latin typeface="Calibri Light"/>
              </a:rPr>
              <a:t>Qué entendemos por asistente de conocimiento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s-ES" sz="2800" b="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No es “un chat con </a:t>
            </a:r>
            <a:r>
              <a:rPr lang="es-ES" sz="2800" b="0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PDFs</a:t>
            </a:r>
            <a:r>
              <a:rPr lang="es-ES" sz="2800" b="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”: es una capa estable entre personas y conocimiento</a:t>
            </a:r>
          </a:p>
        </p:txBody>
      </p:sp>
      <p:sp>
        <p:nvSpPr>
          <p:cNvPr id="6" name="TestuKoadroa 5">
            <a:extLst>
              <a:ext uri="{FF2B5EF4-FFF2-40B4-BE49-F238E27FC236}">
                <a16:creationId xmlns:a16="http://schemas.microsoft.com/office/drawing/2014/main" id="{DDD656D3-6C63-5086-CFD3-2994DBD6F5B7}"/>
              </a:ext>
            </a:extLst>
          </p:cNvPr>
          <p:cNvSpPr txBox="1"/>
          <p:nvPr/>
        </p:nvSpPr>
        <p:spPr>
          <a:xfrm>
            <a:off x="715255" y="2723466"/>
            <a:ext cx="10288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 asistente útil tiene propósito, fuentes, reglas y límites. Sin eso, solo produce respuestas con apariencia de seguridad.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65FEA88-ED04-1026-D3EF-88466AA7937E}"/>
              </a:ext>
            </a:extLst>
          </p:cNvPr>
          <p:cNvSpPr/>
          <p:nvPr/>
        </p:nvSpPr>
        <p:spPr>
          <a:xfrm>
            <a:off x="1143000" y="4275964"/>
            <a:ext cx="1792224" cy="75520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4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AE4B3EF-B3FB-B7AB-EC5E-6A9250EE12ED}"/>
              </a:ext>
            </a:extLst>
          </p:cNvPr>
          <p:cNvSpPr/>
          <p:nvPr/>
        </p:nvSpPr>
        <p:spPr>
          <a:xfrm>
            <a:off x="1216152" y="450706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D2A"/>
                </a:solidFill>
              </a:rPr>
              <a:t>tarea clara</a:t>
            </a:r>
            <a:endParaRPr lang="en-US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BBF9A90-0A1E-BEAC-3529-7D7E167844CF}"/>
              </a:ext>
            </a:extLst>
          </p:cNvPr>
          <p:cNvSpPr/>
          <p:nvPr/>
        </p:nvSpPr>
        <p:spPr>
          <a:xfrm>
            <a:off x="2949500" y="451621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7324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44A56C81-D67D-AE30-6E78-64C7EFE2E85B}"/>
              </a:ext>
            </a:extLst>
          </p:cNvPr>
          <p:cNvSpPr/>
          <p:nvPr/>
        </p:nvSpPr>
        <p:spPr>
          <a:xfrm>
            <a:off x="3163824" y="4275964"/>
            <a:ext cx="1792224" cy="755202"/>
          </a:xfrm>
          <a:prstGeom prst="roundRect">
            <a:avLst>
              <a:gd name="adj" fmla="val 11429"/>
            </a:avLst>
          </a:prstGeom>
          <a:solidFill>
            <a:srgbClr val="F7F2E9"/>
          </a:solidFill>
          <a:ln w="15240">
            <a:solidFill>
              <a:srgbClr val="F7F2E9"/>
            </a:solidFill>
            <a:prstDash val="solid"/>
          </a:ln>
        </p:spPr>
        <p:txBody>
          <a:bodyPr/>
          <a:lstStyle/>
          <a:p>
            <a:endParaRPr lang="eu-ES" sz="240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13348869-B1FA-95EC-F893-E9FE9A049794}"/>
              </a:ext>
            </a:extLst>
          </p:cNvPr>
          <p:cNvSpPr/>
          <p:nvPr/>
        </p:nvSpPr>
        <p:spPr>
          <a:xfrm>
            <a:off x="3236976" y="450706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D2A"/>
                </a:solidFill>
              </a:rPr>
              <a:t>fuentes gobernadas</a:t>
            </a:r>
            <a:endParaRPr lang="en-US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177C89F-60A0-37C3-DBEE-1E76F17FB977}"/>
              </a:ext>
            </a:extLst>
          </p:cNvPr>
          <p:cNvSpPr/>
          <p:nvPr/>
        </p:nvSpPr>
        <p:spPr>
          <a:xfrm>
            <a:off x="4970324" y="451621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7324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623D5CD1-F6A0-C656-E2FD-78E11769B3B5}"/>
              </a:ext>
            </a:extLst>
          </p:cNvPr>
          <p:cNvSpPr/>
          <p:nvPr/>
        </p:nvSpPr>
        <p:spPr>
          <a:xfrm>
            <a:off x="5184648" y="4275964"/>
            <a:ext cx="1792224" cy="75520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40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2F3C6BD7-1577-B251-D906-9B4FB94FE91C}"/>
              </a:ext>
            </a:extLst>
          </p:cNvPr>
          <p:cNvSpPr/>
          <p:nvPr/>
        </p:nvSpPr>
        <p:spPr>
          <a:xfrm>
            <a:off x="5257800" y="450706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D2A"/>
                </a:solidFill>
              </a:rPr>
              <a:t>instrucciones</a:t>
            </a:r>
            <a:endParaRPr lang="en-US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E90D8A09-EB46-B6A8-51D9-6F9ED2E3596A}"/>
              </a:ext>
            </a:extLst>
          </p:cNvPr>
          <p:cNvSpPr/>
          <p:nvPr/>
        </p:nvSpPr>
        <p:spPr>
          <a:xfrm>
            <a:off x="6991148" y="451621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7324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D300FC81-4890-0384-92ED-D1DEA4175BAC}"/>
              </a:ext>
            </a:extLst>
          </p:cNvPr>
          <p:cNvSpPr/>
          <p:nvPr/>
        </p:nvSpPr>
        <p:spPr>
          <a:xfrm>
            <a:off x="7205472" y="4275964"/>
            <a:ext cx="1792224" cy="755202"/>
          </a:xfrm>
          <a:prstGeom prst="roundRect">
            <a:avLst>
              <a:gd name="adj" fmla="val 11429"/>
            </a:avLst>
          </a:prstGeom>
          <a:solidFill>
            <a:srgbClr val="F7F2E9"/>
          </a:solidFill>
          <a:ln w="15240">
            <a:solidFill>
              <a:srgbClr val="F7F2E9"/>
            </a:solidFill>
            <a:prstDash val="solid"/>
          </a:ln>
        </p:spPr>
        <p:txBody>
          <a:bodyPr/>
          <a:lstStyle/>
          <a:p>
            <a:endParaRPr lang="eu-ES" sz="240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D8943104-AA47-1898-88C1-9895D523105F}"/>
              </a:ext>
            </a:extLst>
          </p:cNvPr>
          <p:cNvSpPr/>
          <p:nvPr/>
        </p:nvSpPr>
        <p:spPr>
          <a:xfrm>
            <a:off x="7278624" y="450706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D2A"/>
                </a:solidFill>
              </a:rPr>
              <a:t>límites</a:t>
            </a:r>
            <a:endParaRPr lang="en-US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E7D57B61-F1D8-E4A9-F133-06ED6135D813}"/>
              </a:ext>
            </a:extLst>
          </p:cNvPr>
          <p:cNvSpPr/>
          <p:nvPr/>
        </p:nvSpPr>
        <p:spPr>
          <a:xfrm>
            <a:off x="9011972" y="451621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7324"/>
                </a:solidFill>
              </a:rPr>
              <a:t>→</a:t>
            </a:r>
            <a:endParaRPr lang="en-US" sz="240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69244ADE-E62D-FB1A-4894-ABF24C83A638}"/>
              </a:ext>
            </a:extLst>
          </p:cNvPr>
          <p:cNvSpPr/>
          <p:nvPr/>
        </p:nvSpPr>
        <p:spPr>
          <a:xfrm>
            <a:off x="9226296" y="4275964"/>
            <a:ext cx="1792224" cy="75520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40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29EDABBD-3B18-A7BB-FFBB-1718DC87C8B0}"/>
              </a:ext>
            </a:extLst>
          </p:cNvPr>
          <p:cNvSpPr/>
          <p:nvPr/>
        </p:nvSpPr>
        <p:spPr>
          <a:xfrm>
            <a:off x="9299448" y="450706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D2A"/>
                </a:solidFill>
              </a:rPr>
              <a:t>respuesta verificable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60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C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0640" y="6382512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7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90402"/>
            <a:ext cx="105030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400" b="1" noProof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PREGUNTA PARA LA SALA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lang="es-ES" sz="3600" b="1" noProof="0" dirty="0">
                <a:solidFill>
                  <a:srgbClr val="FFFFFF"/>
                </a:solidFill>
                <a:latin typeface="Calibri Light"/>
              </a:rPr>
              <a:t>¿En cuál de estos casos diríais que empieza de verdad un asistente?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39144"/>
            <a:ext cx="1084194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s-ES" sz="2800" noProof="0" dirty="0">
                <a:solidFill>
                  <a:srgbClr val="FFFFFF"/>
                </a:solidFill>
                <a:latin typeface="Calibri"/>
              </a:rPr>
              <a:t>·  Le haces una pregunta a una IA y te responde</a:t>
            </a:r>
          </a:p>
          <a:p>
            <a:pPr>
              <a:spcAft>
                <a:spcPts val="1200"/>
              </a:spcAft>
            </a:pPr>
            <a:r>
              <a:rPr lang="es-ES" sz="2800" noProof="0" dirty="0">
                <a:solidFill>
                  <a:srgbClr val="FFFFFF"/>
                </a:solidFill>
                <a:latin typeface="Calibri"/>
              </a:rPr>
              <a:t>·  Le adjuntas unos documentos para resolver una tarea concreta</a:t>
            </a:r>
          </a:p>
          <a:p>
            <a:pPr>
              <a:spcAft>
                <a:spcPts val="1200"/>
              </a:spcAft>
            </a:pPr>
            <a:r>
              <a:rPr lang="es-ES" sz="2800" noProof="0" dirty="0">
                <a:solidFill>
                  <a:srgbClr val="FFFFFF"/>
                </a:solidFill>
                <a:latin typeface="Calibri"/>
              </a:rPr>
              <a:t>·  Ya tiene sus fuentes, instrucciones y límites, y distintas personas pueden consultarlo cuando lo necesitan</a:t>
            </a:r>
          </a:p>
          <a:p>
            <a:pPr>
              <a:spcAft>
                <a:spcPts val="1200"/>
              </a:spcAft>
            </a:pPr>
            <a:r>
              <a:rPr lang="es-ES" sz="2800" noProof="0" dirty="0">
                <a:solidFill>
                  <a:srgbClr val="FFFFFF"/>
                </a:solidFill>
                <a:latin typeface="Calibri"/>
              </a:rPr>
              <a:t>·  Además de responder, puede encadenar pasos y utilizar herramientas para hacer cosas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80640" y="6382512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8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3600" b="1" noProof="0" dirty="0">
                <a:solidFill>
                  <a:srgbClr val="0B1F2A"/>
                </a:solidFill>
                <a:latin typeface="Calibri Light"/>
              </a:rPr>
              <a:t>Chat, asistente y agente no son lo mismo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600" b="0" noProof="0" dirty="0">
                <a:solidFill>
                  <a:srgbClr val="5E6A70"/>
                </a:solidFill>
                <a:latin typeface="Calibri"/>
              </a:rPr>
              <a:t>Tres palabras parecidas, tres niveles distintos de capacidad.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463040" cy="38100"/>
          </a:xfrm>
          <a:prstGeom prst="rect">
            <a:avLst/>
          </a:prstGeom>
          <a:solidFill>
            <a:srgbClr val="BE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4952847" cy="411480"/>
          </a:xfrm>
          <a:prstGeom prst="rect">
            <a:avLst/>
          </a:prstGeom>
          <a:solidFill>
            <a:srgbClr val="3F9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eu-ES" sz="1400" b="1" dirty="0">
                <a:solidFill>
                  <a:srgbClr val="FFFFFF"/>
                </a:solidFill>
                <a:latin typeface="Calibri"/>
              </a:rPr>
              <a:t>CHAT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952847" cy="1205458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dirty="0">
                <a:solidFill>
                  <a:srgbClr val="0B1F2A"/>
                </a:solidFill>
                <a:latin typeface="Calibri"/>
              </a:rPr>
              <a:t>·  </a:t>
            </a:r>
            <a:r>
              <a:rPr lang="es-ES" dirty="0">
                <a:solidFill>
                  <a:srgbClr val="0B1F2A"/>
                </a:solidFill>
                <a:latin typeface="Calibri"/>
              </a:rPr>
              <a:t>Responde dentro de una conversación.</a:t>
            </a:r>
          </a:p>
          <a:p>
            <a:pPr>
              <a:spcAft>
                <a:spcPts val="1100"/>
              </a:spcAft>
            </a:pPr>
            <a:r>
              <a:rPr lang="eu-ES" dirty="0">
                <a:solidFill>
                  <a:srgbClr val="0B1F2A"/>
                </a:solidFill>
              </a:rPr>
              <a:t>·  </a:t>
            </a:r>
            <a:r>
              <a:rPr lang="es-ES" dirty="0">
                <a:solidFill>
                  <a:srgbClr val="0B1F2A"/>
                </a:solidFill>
                <a:latin typeface="Calibri"/>
              </a:rPr>
              <a:t>El contexto se agota rápido.</a:t>
            </a:r>
          </a:p>
          <a:p>
            <a:pPr>
              <a:spcAft>
                <a:spcPts val="1100"/>
              </a:spcAft>
            </a:pPr>
            <a:r>
              <a:rPr lang="eu-ES" dirty="0">
                <a:solidFill>
                  <a:srgbClr val="0B1F2A"/>
                </a:solidFill>
              </a:rPr>
              <a:t>·  </a:t>
            </a:r>
            <a:r>
              <a:rPr lang="es-ES" dirty="0">
                <a:solidFill>
                  <a:srgbClr val="0B1F2A"/>
                </a:solidFill>
                <a:latin typeface="Calibri"/>
              </a:rPr>
              <a:t>Sirve para explorar o redactar.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2103120"/>
            <a:ext cx="4952847" cy="41148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ca-ES" sz="1400" b="1" dirty="0">
                <a:solidFill>
                  <a:srgbClr val="FFFFFF"/>
                </a:solidFill>
                <a:latin typeface="Calibri"/>
              </a:rPr>
              <a:t>ASISTENTE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70167" y="2697480"/>
            <a:ext cx="4952847" cy="1205458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lang="es-ES" noProof="0" dirty="0">
                <a:solidFill>
                  <a:srgbClr val="0B1F2A"/>
                </a:solidFill>
                <a:latin typeface="Calibri"/>
              </a:rPr>
              <a:t>·  Conserva un conjunto estable de fuentes.</a:t>
            </a:r>
          </a:p>
          <a:p>
            <a:pPr>
              <a:spcAft>
                <a:spcPts val="1100"/>
              </a:spcAft>
            </a:pPr>
            <a:r>
              <a:rPr lang="es-ES" dirty="0">
                <a:solidFill>
                  <a:srgbClr val="0B1F2A"/>
                </a:solidFill>
              </a:rPr>
              <a:t>·  Tiene </a:t>
            </a:r>
            <a:r>
              <a:rPr lang="es-ES" noProof="0" dirty="0">
                <a:solidFill>
                  <a:srgbClr val="0B1F2A"/>
                </a:solidFill>
                <a:latin typeface="Calibri"/>
              </a:rPr>
              <a:t>una tarea y reglas de respuesta.</a:t>
            </a:r>
          </a:p>
          <a:p>
            <a:pPr>
              <a:spcAft>
                <a:spcPts val="1100"/>
              </a:spcAft>
            </a:pPr>
            <a:r>
              <a:rPr lang="es-ES" dirty="0">
                <a:solidFill>
                  <a:srgbClr val="0B1F2A"/>
                </a:solidFill>
              </a:rPr>
              <a:t>·  Debe </a:t>
            </a:r>
            <a:r>
              <a:rPr lang="es-ES" noProof="0" dirty="0">
                <a:solidFill>
                  <a:srgbClr val="0B1F2A"/>
                </a:solidFill>
                <a:latin typeface="Calibri"/>
              </a:rPr>
              <a:t>saber citar y parar.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02C72FF-18E3-8654-E490-3F86B53270D5}"/>
              </a:ext>
            </a:extLst>
          </p:cNvPr>
          <p:cNvSpPr/>
          <p:nvPr/>
        </p:nvSpPr>
        <p:spPr>
          <a:xfrm>
            <a:off x="960119" y="5224703"/>
            <a:ext cx="1040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B2D3B"/>
                </a:solidFill>
              </a:rPr>
              <a:t>AGENTE: además de responder, encadena pasos y usa herramientas. Lo trabajaremos después.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0840-E9F1-623F-D6BF-FBE4F268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9A8C57-3A0F-C631-4869-FC7EE1D9B6F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7502A-0365-B18D-E560-6BC661834BCC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5DB2A-BA01-2CD8-93F5-8D5D09213B24}"/>
              </a:ext>
            </a:extLst>
          </p:cNvPr>
          <p:cNvSpPr txBox="1"/>
          <p:nvPr/>
        </p:nvSpPr>
        <p:spPr>
          <a:xfrm>
            <a:off x="11080640" y="6382512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9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CC20D0-98EA-0710-F7D9-5E3D18E226D9}"/>
              </a:ext>
            </a:extLst>
          </p:cNvPr>
          <p:cNvSpPr/>
          <p:nvPr/>
        </p:nvSpPr>
        <p:spPr>
          <a:xfrm>
            <a:off x="647748" y="644989"/>
            <a:ext cx="2011680" cy="38100"/>
          </a:xfrm>
          <a:prstGeom prst="rect">
            <a:avLst/>
          </a:prstGeom>
          <a:solidFill>
            <a:srgbClr val="164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C3005-C7CF-70E6-E66B-3CCA0284401B}"/>
              </a:ext>
            </a:extLst>
          </p:cNvPr>
          <p:cNvSpPr txBox="1"/>
          <p:nvPr/>
        </p:nvSpPr>
        <p:spPr>
          <a:xfrm>
            <a:off x="647748" y="1056469"/>
            <a:ext cx="10816002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164F46"/>
                </a:solidFill>
                <a:latin typeface="Calibri Light"/>
              </a:rPr>
              <a:t>Lo que cambia no es la herramienta, sino que los documentos dejan de ser un adjunto y pasan a ser un sitio.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2400" b="0" noProof="0" dirty="0">
                <a:solidFill>
                  <a:srgbClr val="0B1F2A"/>
                </a:solidFill>
                <a:latin typeface="Calibri"/>
              </a:rPr>
              <a:t>Un sitio al que se pregunta muchas veces, y no solo tú.</a:t>
            </a:r>
          </a:p>
        </p:txBody>
      </p:sp>
      <p:pic>
        <p:nvPicPr>
          <p:cNvPr id="8" name="Irudia 7">
            <a:extLst>
              <a:ext uri="{FF2B5EF4-FFF2-40B4-BE49-F238E27FC236}">
                <a16:creationId xmlns:a16="http://schemas.microsoft.com/office/drawing/2014/main" id="{02541B45-7394-9B32-FED6-C8F39A4B0B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40" b="7441"/>
          <a:stretch>
            <a:fillRect/>
          </a:stretch>
        </p:blipFill>
        <p:spPr>
          <a:xfrm>
            <a:off x="1475774" y="3467094"/>
            <a:ext cx="9240145" cy="248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72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C2625-DFD3-0E1D-CC98-03943467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F81BF-EA81-F9AF-027A-654DE21BC7E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5A36F-158F-EDB5-41FA-D00B3EC367AA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444BE-39D9-A962-DAC9-B7176BD77577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10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630DDA-FE21-D9DC-C65D-E2B43FA61A70}"/>
              </a:ext>
            </a:extLst>
          </p:cNvPr>
          <p:cNvSpPr/>
          <p:nvPr/>
        </p:nvSpPr>
        <p:spPr>
          <a:xfrm>
            <a:off x="647748" y="644989"/>
            <a:ext cx="2011680" cy="38100"/>
          </a:xfrm>
          <a:prstGeom prst="rect">
            <a:avLst/>
          </a:prstGeom>
          <a:solidFill>
            <a:srgbClr val="164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CCF488-E84A-3F48-943B-F3E6BE3DCD18}"/>
              </a:ext>
            </a:extLst>
          </p:cNvPr>
          <p:cNvSpPr txBox="1"/>
          <p:nvPr/>
        </p:nvSpPr>
        <p:spPr>
          <a:xfrm>
            <a:off x="647748" y="1056469"/>
            <a:ext cx="1081600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164F46"/>
                </a:solidFill>
                <a:latin typeface="Calibri Light"/>
              </a:rPr>
              <a:t>Dónde aparece el valor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2400" b="0" noProof="0" dirty="0">
                <a:solidFill>
                  <a:srgbClr val="0B1F2A"/>
                </a:solidFill>
                <a:latin typeface="Calibri"/>
              </a:rPr>
              <a:t>No está en que responda una vez. Está en reducir fricción todos los días.</a:t>
            </a:r>
          </a:p>
        </p:txBody>
      </p:sp>
      <p:sp>
        <p:nvSpPr>
          <p:cNvPr id="7" name="TestuKoadroa 6">
            <a:extLst>
              <a:ext uri="{FF2B5EF4-FFF2-40B4-BE49-F238E27FC236}">
                <a16:creationId xmlns:a16="http://schemas.microsoft.com/office/drawing/2014/main" id="{B9E6E851-8F68-8118-CCD0-815EF8232838}"/>
              </a:ext>
            </a:extLst>
          </p:cNvPr>
          <p:cNvSpPr txBox="1"/>
          <p:nvPr/>
        </p:nvSpPr>
        <p:spPr>
          <a:xfrm>
            <a:off x="1204485" y="2544357"/>
            <a:ext cx="105313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Wingdings" panose="05000000000000000000" pitchFamily="2" charset="2"/>
              <a:buChar char="§"/>
            </a:pPr>
            <a:r>
              <a:rPr lang="es-ES" sz="2800" dirty="0"/>
              <a:t>Descargar a </a:t>
            </a:r>
            <a:r>
              <a:rPr lang="es-ES" sz="2800" b="1" dirty="0">
                <a:solidFill>
                  <a:srgbClr val="2A9684"/>
                </a:solidFill>
              </a:rPr>
              <a:t>expertos</a:t>
            </a:r>
            <a:r>
              <a:rPr lang="es-ES" sz="2800" dirty="0"/>
              <a:t> de preguntas repetitivas.</a:t>
            </a:r>
          </a:p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Wingdings" panose="05000000000000000000" pitchFamily="2" charset="2"/>
              <a:buChar char="§"/>
            </a:pPr>
            <a:r>
              <a:rPr lang="es-ES" sz="2800" dirty="0"/>
              <a:t>Acelerar </a:t>
            </a:r>
            <a:r>
              <a:rPr lang="es-ES" sz="2800" dirty="0" err="1"/>
              <a:t>onboarding</a:t>
            </a:r>
            <a:r>
              <a:rPr lang="es-ES" sz="2800" dirty="0"/>
              <a:t> y consultas de equipos nuevos.</a:t>
            </a:r>
          </a:p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Wingdings" panose="05000000000000000000" pitchFamily="2" charset="2"/>
              <a:buChar char="§"/>
            </a:pPr>
            <a:r>
              <a:rPr lang="es-ES" sz="2800" dirty="0"/>
              <a:t>Homogeneizar respuestas cuando varias personas contestan lo mismo.</a:t>
            </a:r>
          </a:p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Wingdings" panose="05000000000000000000" pitchFamily="2" charset="2"/>
              <a:buChar char="§"/>
            </a:pPr>
            <a:r>
              <a:rPr lang="es-ES" sz="2800" dirty="0"/>
              <a:t>Hacer visible qué está documentado, qué está viejo y qué no existe.</a:t>
            </a:r>
          </a:p>
        </p:txBody>
      </p:sp>
    </p:spTree>
    <p:extLst>
      <p:ext uri="{BB962C8B-B14F-4D97-AF65-F5344CB8AC3E}">
        <p14:creationId xmlns:p14="http://schemas.microsoft.com/office/powerpoint/2010/main" val="215071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52AA-7491-5168-7142-0F92B0DB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C4425-9604-F5A3-E7A2-5B51C4DB2B3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131014-97C1-9E70-0C3B-9D595E6776FD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DCF25-CE10-C6FA-2DA8-A8577256E96A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11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1C9BED-5187-59B7-C349-B965F7D7CE6E}"/>
              </a:ext>
            </a:extLst>
          </p:cNvPr>
          <p:cNvSpPr/>
          <p:nvPr/>
        </p:nvSpPr>
        <p:spPr>
          <a:xfrm>
            <a:off x="647748" y="644989"/>
            <a:ext cx="2011680" cy="38100"/>
          </a:xfrm>
          <a:prstGeom prst="rect">
            <a:avLst/>
          </a:prstGeom>
          <a:solidFill>
            <a:srgbClr val="A87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FFFCC-6B35-FB59-D5AB-E2D26DF427F6}"/>
              </a:ext>
            </a:extLst>
          </p:cNvPr>
          <p:cNvSpPr txBox="1"/>
          <p:nvPr/>
        </p:nvSpPr>
        <p:spPr>
          <a:xfrm>
            <a:off x="647748" y="1056469"/>
            <a:ext cx="1081600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A87324"/>
                </a:solidFill>
                <a:latin typeface="Calibri Light"/>
              </a:rPr>
              <a:t>El conocimiento deja de vivir en tres cabezas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2400" b="0" noProof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Un asistente puede poner know-how a disposición de más personas, pero solo si antes existe como conocimiento gobernado</a:t>
            </a:r>
          </a:p>
        </p:txBody>
      </p:sp>
      <p:sp>
        <p:nvSpPr>
          <p:cNvPr id="7" name="TestuKoadroa 6">
            <a:extLst>
              <a:ext uri="{FF2B5EF4-FFF2-40B4-BE49-F238E27FC236}">
                <a16:creationId xmlns:a16="http://schemas.microsoft.com/office/drawing/2014/main" id="{C3778481-FCEB-3974-4832-429B9BEEB3D5}"/>
              </a:ext>
            </a:extLst>
          </p:cNvPr>
          <p:cNvSpPr txBox="1"/>
          <p:nvPr/>
        </p:nvSpPr>
        <p:spPr>
          <a:xfrm>
            <a:off x="720377" y="2872276"/>
            <a:ext cx="10977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2A9684"/>
              </a:buClr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promesa no es sustituir al experto. Es que el experto no tenga que repetir veinte veces lo mismo y que el criterio no desaparezca cuando esa persona falta.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6EBEE16-4BE4-F9D8-2308-0D9BCC5ED734}"/>
              </a:ext>
            </a:extLst>
          </p:cNvPr>
          <p:cNvSpPr/>
          <p:nvPr/>
        </p:nvSpPr>
        <p:spPr>
          <a:xfrm>
            <a:off x="1143000" y="4381235"/>
            <a:ext cx="1792224" cy="640080"/>
          </a:xfrm>
          <a:prstGeom prst="roundRect">
            <a:avLst>
              <a:gd name="adj" fmla="val 11429"/>
            </a:avLst>
          </a:prstGeom>
          <a:solidFill>
            <a:srgbClr val="FFF3D8"/>
          </a:solidFill>
          <a:ln w="15240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0355E28-DB04-DB0C-D68C-5740988693E8}"/>
              </a:ext>
            </a:extLst>
          </p:cNvPr>
          <p:cNvSpPr/>
          <p:nvPr/>
        </p:nvSpPr>
        <p:spPr>
          <a:xfrm>
            <a:off x="1216152" y="453668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experto/a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202D4A67-A67B-2746-67D9-02BA025AA472}"/>
              </a:ext>
            </a:extLst>
          </p:cNvPr>
          <p:cNvSpPr/>
          <p:nvPr/>
        </p:nvSpPr>
        <p:spPr>
          <a:xfrm>
            <a:off x="2962656" y="4545827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DE3FEAAB-0FF6-916A-09EC-B743CFC2772E}"/>
              </a:ext>
            </a:extLst>
          </p:cNvPr>
          <p:cNvSpPr/>
          <p:nvPr/>
        </p:nvSpPr>
        <p:spPr>
          <a:xfrm>
            <a:off x="3163824" y="4381235"/>
            <a:ext cx="179222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A7DA801-0DFD-0CAA-6C97-06E201ADD5BD}"/>
              </a:ext>
            </a:extLst>
          </p:cNvPr>
          <p:cNvSpPr/>
          <p:nvPr/>
        </p:nvSpPr>
        <p:spPr>
          <a:xfrm>
            <a:off x="3236976" y="453668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documentar</a:t>
            </a:r>
            <a:endParaRPr lang="en-US" sz="16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4A6F1FF-D798-99C2-AA22-33322F66083A}"/>
              </a:ext>
            </a:extLst>
          </p:cNvPr>
          <p:cNvSpPr/>
          <p:nvPr/>
        </p:nvSpPr>
        <p:spPr>
          <a:xfrm>
            <a:off x="4983480" y="4545827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B894A43E-C9C1-D841-2FFD-05C1BB7B94CD}"/>
              </a:ext>
            </a:extLst>
          </p:cNvPr>
          <p:cNvSpPr/>
          <p:nvPr/>
        </p:nvSpPr>
        <p:spPr>
          <a:xfrm>
            <a:off x="5184648" y="4381235"/>
            <a:ext cx="1792224" cy="640080"/>
          </a:xfrm>
          <a:prstGeom prst="roundRect">
            <a:avLst>
              <a:gd name="adj" fmla="val 11429"/>
            </a:avLst>
          </a:prstGeom>
          <a:solidFill>
            <a:srgbClr val="F7E2DE"/>
          </a:solidFill>
          <a:ln w="15240">
            <a:solidFill>
              <a:srgbClr val="F7E2DE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AB2250DA-9F6F-FB72-4E95-4BA66DC14FF8}"/>
              </a:ext>
            </a:extLst>
          </p:cNvPr>
          <p:cNvSpPr/>
          <p:nvPr/>
        </p:nvSpPr>
        <p:spPr>
          <a:xfrm>
            <a:off x="5257800" y="453668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gobernar</a:t>
            </a:r>
            <a:endParaRPr lang="en-US" sz="16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DAB0E626-111A-6217-298D-FB49EE7FEEE4}"/>
              </a:ext>
            </a:extLst>
          </p:cNvPr>
          <p:cNvSpPr/>
          <p:nvPr/>
        </p:nvSpPr>
        <p:spPr>
          <a:xfrm>
            <a:off x="7004304" y="4545827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C81F1085-3FF4-A0F0-213A-76021063D724}"/>
              </a:ext>
            </a:extLst>
          </p:cNvPr>
          <p:cNvSpPr/>
          <p:nvPr/>
        </p:nvSpPr>
        <p:spPr>
          <a:xfrm>
            <a:off x="7205472" y="4381235"/>
            <a:ext cx="179222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E9FFE1F5-D64F-A26C-B28D-B4FDE1DD0969}"/>
              </a:ext>
            </a:extLst>
          </p:cNvPr>
          <p:cNvSpPr/>
          <p:nvPr/>
        </p:nvSpPr>
        <p:spPr>
          <a:xfrm>
            <a:off x="7278624" y="453668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consultar</a:t>
            </a:r>
            <a:endParaRPr lang="en-US" sz="16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C78F07DC-EEC8-4C54-B004-87716F9C130B}"/>
              </a:ext>
            </a:extLst>
          </p:cNvPr>
          <p:cNvSpPr/>
          <p:nvPr/>
        </p:nvSpPr>
        <p:spPr>
          <a:xfrm>
            <a:off x="9025128" y="4545827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F58B692D-AEF5-1224-F3C5-DC8D85AD9003}"/>
              </a:ext>
            </a:extLst>
          </p:cNvPr>
          <p:cNvSpPr/>
          <p:nvPr/>
        </p:nvSpPr>
        <p:spPr>
          <a:xfrm>
            <a:off x="9226296" y="4381235"/>
            <a:ext cx="1792224" cy="640080"/>
          </a:xfrm>
          <a:prstGeom prst="roundRect">
            <a:avLst>
              <a:gd name="adj" fmla="val 11429"/>
            </a:avLst>
          </a:prstGeom>
          <a:solidFill>
            <a:srgbClr val="EAF3F0"/>
          </a:solidFill>
          <a:ln w="15240">
            <a:solidFill>
              <a:srgbClr val="EAF3F0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A19E6F64-9B36-384C-80F4-399C79634E02}"/>
              </a:ext>
            </a:extLst>
          </p:cNvPr>
          <p:cNvSpPr/>
          <p:nvPr/>
        </p:nvSpPr>
        <p:spPr>
          <a:xfrm>
            <a:off x="9299448" y="453668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mejorar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19701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4028-0D4D-E987-7CE9-8BB70F9B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76B4C-FB15-E72E-0623-98A61A0A96B3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F7A1B-657C-C089-23B9-945C09851B2E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12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02E4F-281C-7E4B-D80A-B561574D9BF1}"/>
              </a:ext>
            </a:extLst>
          </p:cNvPr>
          <p:cNvSpPr txBox="1"/>
          <p:nvPr/>
        </p:nvSpPr>
        <p:spPr>
          <a:xfrm>
            <a:off x="868680" y="685800"/>
            <a:ext cx="1045433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3600" b="1" dirty="0">
                <a:solidFill>
                  <a:srgbClr val="0B1F2A"/>
                </a:solidFill>
                <a:latin typeface="Calibri Light"/>
              </a:rPr>
              <a:t>Encaje de este tipo de solución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600" b="0" noProof="0" dirty="0">
                <a:solidFill>
                  <a:srgbClr val="5E6A70"/>
                </a:solidFill>
                <a:latin typeface="Calibri"/>
              </a:rPr>
              <a:t>Primero el tipo de problema, luego la herramienta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A183AB-1E27-EFC7-6C53-BB6E69474489}"/>
              </a:ext>
            </a:extLst>
          </p:cNvPr>
          <p:cNvSpPr/>
          <p:nvPr/>
        </p:nvSpPr>
        <p:spPr>
          <a:xfrm>
            <a:off x="868680" y="1783080"/>
            <a:ext cx="1463040" cy="38100"/>
          </a:xfrm>
          <a:prstGeom prst="rect">
            <a:avLst/>
          </a:prstGeom>
          <a:solidFill>
            <a:srgbClr val="BE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F5343B-0910-42F0-4A74-792A0A19AD9C}"/>
              </a:ext>
            </a:extLst>
          </p:cNvPr>
          <p:cNvSpPr/>
          <p:nvPr/>
        </p:nvSpPr>
        <p:spPr>
          <a:xfrm>
            <a:off x="868680" y="2103120"/>
            <a:ext cx="4952847" cy="411480"/>
          </a:xfrm>
          <a:prstGeom prst="rect">
            <a:avLst/>
          </a:prstGeom>
          <a:solidFill>
            <a:srgbClr val="BE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es-ES" sz="1400" b="1" noProof="0" dirty="0">
                <a:solidFill>
                  <a:srgbClr val="FFFFFF"/>
                </a:solidFill>
                <a:latin typeface="Calibri"/>
              </a:rPr>
              <a:t>Encaja mal cuando…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F3B6F-5A33-EE70-4A38-BD03C624A146}"/>
              </a:ext>
            </a:extLst>
          </p:cNvPr>
          <p:cNvSpPr txBox="1"/>
          <p:nvPr/>
        </p:nvSpPr>
        <p:spPr>
          <a:xfrm>
            <a:off x="868680" y="2697480"/>
            <a:ext cx="4952847" cy="2380139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sz="1600" dirty="0">
                <a:solidFill>
                  <a:srgbClr val="0B1F2A"/>
                </a:solidFill>
                <a:latin typeface="Calibri"/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El conocimiento no está escrito o vive en conversaciones informales.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Hay versiones contradictorias y nadie decide cuál manda.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Cada consulta depende de permisos distintos.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La respuesta exige actuar en sistemas, no solo informar.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El problema cambia más rápido que los documentos.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C3F679-404B-C04B-297A-F80D0CDAFA49}"/>
              </a:ext>
            </a:extLst>
          </p:cNvPr>
          <p:cNvSpPr/>
          <p:nvPr/>
        </p:nvSpPr>
        <p:spPr>
          <a:xfrm>
            <a:off x="6370167" y="2103120"/>
            <a:ext cx="4952847" cy="41148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es-ES" sz="1400" b="1" noProof="0" dirty="0">
                <a:solidFill>
                  <a:srgbClr val="FFFFFF"/>
                </a:solidFill>
                <a:latin typeface="Calibri"/>
              </a:rPr>
              <a:t>Encaja bien cuando…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35606-ED11-0306-88C1-4D0464743B74}"/>
              </a:ext>
            </a:extLst>
          </p:cNvPr>
          <p:cNvSpPr txBox="1"/>
          <p:nvPr/>
        </p:nvSpPr>
        <p:spPr>
          <a:xfrm>
            <a:off x="6370167" y="2697480"/>
            <a:ext cx="4952847" cy="2164695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La misma pregunta aparece muchas veces.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La respuesta depende de documentos relativamente estables.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Varias personas necesitan consultar lo mismo.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La respuesta puede comprobarse contra una fuente.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Hay alguien responsable de mantener el corpus.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6C6AB63-BCFF-2181-998A-1C5A28F01D1C}"/>
              </a:ext>
            </a:extLst>
          </p:cNvPr>
          <p:cNvSpPr/>
          <p:nvPr/>
        </p:nvSpPr>
        <p:spPr>
          <a:xfrm>
            <a:off x="960119" y="5559552"/>
            <a:ext cx="1040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2000" b="1" dirty="0">
                <a:solidFill>
                  <a:srgbClr val="8B2D3B"/>
                </a:solidFill>
              </a:rPr>
              <a:t>Un asistente no convierte una carpeta mala en conocimiento fiable.</a:t>
            </a:r>
          </a:p>
        </p:txBody>
      </p:sp>
    </p:spTree>
    <p:extLst>
      <p:ext uri="{BB962C8B-B14F-4D97-AF65-F5344CB8AC3E}">
        <p14:creationId xmlns:p14="http://schemas.microsoft.com/office/powerpoint/2010/main" val="18144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FAEAF-1023-3561-6154-96AE4F17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E1FCD-5C4C-944B-BAD4-DC01BEFE8A2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FB5D78-1997-F302-59C5-F3B2A28256FB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D0555-B0D0-1829-C2D6-56366C205121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13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1FB8C4-21E8-F1B2-E45B-7076EA5A7BEC}"/>
              </a:ext>
            </a:extLst>
          </p:cNvPr>
          <p:cNvSpPr/>
          <p:nvPr/>
        </p:nvSpPr>
        <p:spPr>
          <a:xfrm>
            <a:off x="647748" y="644989"/>
            <a:ext cx="2011680" cy="38100"/>
          </a:xfrm>
          <a:prstGeom prst="rect">
            <a:avLst/>
          </a:prstGeom>
          <a:solidFill>
            <a:srgbClr val="A87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2FFBAE-18B1-697C-B506-01ECEF401082}"/>
              </a:ext>
            </a:extLst>
          </p:cNvPr>
          <p:cNvSpPr txBox="1"/>
          <p:nvPr/>
        </p:nvSpPr>
        <p:spPr>
          <a:xfrm>
            <a:off x="647748" y="1056469"/>
            <a:ext cx="1081600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A87324"/>
                </a:solidFill>
                <a:latin typeface="Calibri Light"/>
              </a:rPr>
              <a:t>El asistente no es la fuente de verdad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2400" b="0" noProof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La fuente de verdad sigue siendo la documentación </a:t>
            </a:r>
            <a:r>
              <a:rPr lang="es-ES" sz="2400" b="1" u="sng" noProof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gobernada</a:t>
            </a:r>
          </a:p>
        </p:txBody>
      </p:sp>
      <p:sp>
        <p:nvSpPr>
          <p:cNvPr id="7" name="TestuKoadroa 6">
            <a:extLst>
              <a:ext uri="{FF2B5EF4-FFF2-40B4-BE49-F238E27FC236}">
                <a16:creationId xmlns:a16="http://schemas.microsoft.com/office/drawing/2014/main" id="{B00EDAE5-FE1D-9942-EF35-2D966872D5E2}"/>
              </a:ext>
            </a:extLst>
          </p:cNvPr>
          <p:cNvSpPr txBox="1"/>
          <p:nvPr/>
        </p:nvSpPr>
        <p:spPr>
          <a:xfrm>
            <a:off x="720377" y="2834440"/>
            <a:ext cx="10977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2A9684"/>
              </a:buClr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 el documento está mal, viejo o fuera de ámbito, el asistente no lo arregla. Como mucho, lo hace visible.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31ECC1B-82B7-1A9B-8473-5E3F1BBEDE6F}"/>
              </a:ext>
            </a:extLst>
          </p:cNvPr>
          <p:cNvSpPr/>
          <p:nvPr/>
        </p:nvSpPr>
        <p:spPr>
          <a:xfrm>
            <a:off x="1143000" y="4274030"/>
            <a:ext cx="229743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A602AE42-CC4C-5180-D134-3677D87D6B34}"/>
              </a:ext>
            </a:extLst>
          </p:cNvPr>
          <p:cNvSpPr/>
          <p:nvPr/>
        </p:nvSpPr>
        <p:spPr>
          <a:xfrm>
            <a:off x="1216152" y="4435784"/>
            <a:ext cx="2151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documento vigente</a:t>
            </a:r>
            <a:endParaRPr lang="en-US" sz="16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5343D15-2AFB-3A8D-DB05-D9DBE3A93F4C}"/>
              </a:ext>
            </a:extLst>
          </p:cNvPr>
          <p:cNvSpPr/>
          <p:nvPr/>
        </p:nvSpPr>
        <p:spPr>
          <a:xfrm>
            <a:off x="3467862" y="4444928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CC59C292-3402-8774-F3A9-52406AB90148}"/>
              </a:ext>
            </a:extLst>
          </p:cNvPr>
          <p:cNvSpPr/>
          <p:nvPr/>
        </p:nvSpPr>
        <p:spPr>
          <a:xfrm>
            <a:off x="3669030" y="4274030"/>
            <a:ext cx="2297430" cy="640080"/>
          </a:xfrm>
          <a:prstGeom prst="roundRect">
            <a:avLst>
              <a:gd name="adj" fmla="val 11429"/>
            </a:avLst>
          </a:prstGeom>
          <a:solidFill>
            <a:srgbClr val="FFF3D8"/>
          </a:solidFill>
          <a:ln w="15240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53C292EB-A8EE-C836-786D-01C5A9BF8E09}"/>
              </a:ext>
            </a:extLst>
          </p:cNvPr>
          <p:cNvSpPr/>
          <p:nvPr/>
        </p:nvSpPr>
        <p:spPr>
          <a:xfrm>
            <a:off x="3742182" y="4435784"/>
            <a:ext cx="2151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asistente</a:t>
            </a:r>
            <a:endParaRPr lang="en-US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476C607B-4780-BE45-0328-2EFA0925FB98}"/>
              </a:ext>
            </a:extLst>
          </p:cNvPr>
          <p:cNvSpPr/>
          <p:nvPr/>
        </p:nvSpPr>
        <p:spPr>
          <a:xfrm>
            <a:off x="5993892" y="4444928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D135E62E-04B3-9469-2F32-8D28C7C18E70}"/>
              </a:ext>
            </a:extLst>
          </p:cNvPr>
          <p:cNvSpPr/>
          <p:nvPr/>
        </p:nvSpPr>
        <p:spPr>
          <a:xfrm>
            <a:off x="6195060" y="4274030"/>
            <a:ext cx="229743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F8A16612-F4EC-3DBF-34C7-E5779071C521}"/>
              </a:ext>
            </a:extLst>
          </p:cNvPr>
          <p:cNvSpPr/>
          <p:nvPr/>
        </p:nvSpPr>
        <p:spPr>
          <a:xfrm>
            <a:off x="6268212" y="4435784"/>
            <a:ext cx="2151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respuesta</a:t>
            </a:r>
            <a:endParaRPr lang="en-US" sz="16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485D38B5-CDC0-62FA-7AA9-D2F99812E5E8}"/>
              </a:ext>
            </a:extLst>
          </p:cNvPr>
          <p:cNvSpPr/>
          <p:nvPr/>
        </p:nvSpPr>
        <p:spPr>
          <a:xfrm>
            <a:off x="8519922" y="4444928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B0EE59E4-D751-0A58-8E52-C6BAC4038D00}"/>
              </a:ext>
            </a:extLst>
          </p:cNvPr>
          <p:cNvSpPr/>
          <p:nvPr/>
        </p:nvSpPr>
        <p:spPr>
          <a:xfrm>
            <a:off x="8721090" y="4274030"/>
            <a:ext cx="2297430" cy="640080"/>
          </a:xfrm>
          <a:prstGeom prst="roundRect">
            <a:avLst>
              <a:gd name="adj" fmla="val 11429"/>
            </a:avLst>
          </a:prstGeom>
          <a:solidFill>
            <a:srgbClr val="EAF3F0"/>
          </a:solidFill>
          <a:ln w="15240">
            <a:solidFill>
              <a:srgbClr val="EAF3F0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BB31C480-C9C4-564B-3B5A-3FBC3AF035CD}"/>
              </a:ext>
            </a:extLst>
          </p:cNvPr>
          <p:cNvSpPr/>
          <p:nvPr/>
        </p:nvSpPr>
        <p:spPr>
          <a:xfrm>
            <a:off x="8794242" y="4435784"/>
            <a:ext cx="2151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verificación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3539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1D20-6F5C-FD55-3502-F50B67763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EEF9A-5EEA-E8BF-A225-BF3A6024C7E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A71A9-F3CC-7F23-F49E-152681FAA55D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4E18B-CAD0-10D6-AA70-A7042B8E9CA7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14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5F824-56B7-0323-B896-5E7620AFB505}"/>
              </a:ext>
            </a:extLst>
          </p:cNvPr>
          <p:cNvSpPr/>
          <p:nvPr/>
        </p:nvSpPr>
        <p:spPr>
          <a:xfrm>
            <a:off x="647748" y="644989"/>
            <a:ext cx="2011680" cy="38100"/>
          </a:xfrm>
          <a:prstGeom prst="rect">
            <a:avLst/>
          </a:prstGeom>
          <a:solidFill>
            <a:srgbClr val="164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1E4F8-837E-FE9C-2EB6-B1489EAF88F1}"/>
              </a:ext>
            </a:extLst>
          </p:cNvPr>
          <p:cNvSpPr txBox="1"/>
          <p:nvPr/>
        </p:nvSpPr>
        <p:spPr>
          <a:xfrm>
            <a:off x="647748" y="1056469"/>
            <a:ext cx="1081600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164F46"/>
                </a:solidFill>
                <a:latin typeface="Calibri Light"/>
              </a:rPr>
              <a:t>Gobernar el asistente es gobernar sus fuentes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2400" b="0" noProof="0" dirty="0">
                <a:solidFill>
                  <a:srgbClr val="0B1F2A"/>
                </a:solidFill>
                <a:latin typeface="Calibri"/>
              </a:rPr>
              <a:t>La pregunta difícil no es técnica: es </a:t>
            </a:r>
            <a:r>
              <a:rPr lang="es-ES" sz="2400" b="0" u="sng" noProof="0" dirty="0">
                <a:solidFill>
                  <a:srgbClr val="0B1F2A"/>
                </a:solidFill>
                <a:latin typeface="Calibri"/>
              </a:rPr>
              <a:t>organizativa</a:t>
            </a:r>
            <a:r>
              <a:rPr lang="es-ES" sz="2400" b="0" noProof="0" dirty="0">
                <a:solidFill>
                  <a:srgbClr val="0B1F2A"/>
                </a:solidFill>
                <a:latin typeface="Calibri"/>
              </a:rPr>
              <a:t>.</a:t>
            </a:r>
          </a:p>
        </p:txBody>
      </p:sp>
      <p:sp>
        <p:nvSpPr>
          <p:cNvPr id="7" name="TestuKoadroa 6">
            <a:extLst>
              <a:ext uri="{FF2B5EF4-FFF2-40B4-BE49-F238E27FC236}">
                <a16:creationId xmlns:a16="http://schemas.microsoft.com/office/drawing/2014/main" id="{95805374-9369-BADD-3C52-438C989D5331}"/>
              </a:ext>
            </a:extLst>
          </p:cNvPr>
          <p:cNvSpPr txBox="1"/>
          <p:nvPr/>
        </p:nvSpPr>
        <p:spPr>
          <a:xfrm>
            <a:off x="1204485" y="2544357"/>
            <a:ext cx="105313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Courier New" panose="02070309020205020404" pitchFamily="49" charset="0"/>
              <a:buChar char="o"/>
            </a:pPr>
            <a:r>
              <a:rPr lang="es-ES" sz="2800" dirty="0"/>
              <a:t>¿Quién decide qué documentos entran?</a:t>
            </a:r>
          </a:p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Courier New" panose="02070309020205020404" pitchFamily="49" charset="0"/>
              <a:buChar char="o"/>
            </a:pPr>
            <a:r>
              <a:rPr lang="es-ES" sz="2800" dirty="0"/>
              <a:t>¿Quién retira versiones antiguas?</a:t>
            </a:r>
          </a:p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Courier New" panose="02070309020205020404" pitchFamily="49" charset="0"/>
              <a:buChar char="o"/>
            </a:pPr>
            <a:r>
              <a:rPr lang="es-ES" sz="2800" dirty="0"/>
              <a:t>¿Quién aprueba una política como vigente?</a:t>
            </a:r>
          </a:p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Courier New" panose="02070309020205020404" pitchFamily="49" charset="0"/>
              <a:buChar char="o"/>
            </a:pPr>
            <a:r>
              <a:rPr lang="es-ES" sz="2800" dirty="0"/>
              <a:t>¿Cada cuánto se revisa el corpus?</a:t>
            </a:r>
          </a:p>
          <a:p>
            <a:pPr marL="457200" indent="-457200">
              <a:lnSpc>
                <a:spcPct val="150000"/>
              </a:lnSpc>
              <a:buClr>
                <a:srgbClr val="2A9684"/>
              </a:buClr>
              <a:buFont typeface="Courier New" panose="02070309020205020404" pitchFamily="49" charset="0"/>
              <a:buChar char="o"/>
            </a:pPr>
            <a:r>
              <a:rPr lang="es-ES" sz="2800" dirty="0"/>
              <a:t>¿Quién responde si el asistente cita algo incorrecto?</a:t>
            </a:r>
          </a:p>
        </p:txBody>
      </p:sp>
    </p:spTree>
    <p:extLst>
      <p:ext uri="{BB962C8B-B14F-4D97-AF65-F5344CB8AC3E}">
        <p14:creationId xmlns:p14="http://schemas.microsoft.com/office/powerpoint/2010/main" val="2523220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6A98-DD4B-0D8C-BFD9-C82041E2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B30408-920D-352E-4B2E-E3CBF1791279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9F768-0D0E-BD13-FAAF-349318203CF3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15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98AF5-7E17-9C0A-46D3-ECCB5FE86843}"/>
              </a:ext>
            </a:extLst>
          </p:cNvPr>
          <p:cNvSpPr txBox="1"/>
          <p:nvPr/>
        </p:nvSpPr>
        <p:spPr>
          <a:xfrm>
            <a:off x="868680" y="464869"/>
            <a:ext cx="10454335" cy="9694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4000" b="1" noProof="0" dirty="0">
                <a:solidFill>
                  <a:srgbClr val="0B1F2A"/>
                </a:solidFill>
                <a:latin typeface="Calibri Light"/>
              </a:rPr>
              <a:t>No todos los documentos pesan igual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500" b="0" noProof="0" dirty="0">
                <a:solidFill>
                  <a:srgbClr val="5E6A70"/>
                </a:solidFill>
                <a:latin typeface="Calibri"/>
              </a:rPr>
              <a:t>Si no defines la jerarquía, un caso anterior puede acabar tratándose como si fuera una regla vigente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925A00-3C54-1FED-E42E-51CB4CE5A1BF}"/>
              </a:ext>
            </a:extLst>
          </p:cNvPr>
          <p:cNvSpPr/>
          <p:nvPr/>
        </p:nvSpPr>
        <p:spPr>
          <a:xfrm>
            <a:off x="868680" y="1623519"/>
            <a:ext cx="1463040" cy="3810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8F82A6-58B9-3F17-29D0-F54E04362317}"/>
              </a:ext>
            </a:extLst>
          </p:cNvPr>
          <p:cNvGraphicFramePr>
            <a:graphicFrameLocks noGrp="1"/>
          </p:cNvGraphicFramePr>
          <p:nvPr/>
        </p:nvGraphicFramePr>
        <p:xfrm>
          <a:off x="868680" y="2023340"/>
          <a:ext cx="10454333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7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82296" marR="82296" anchor="ctr">
                    <a:solidFill>
                      <a:srgbClr val="2A96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marL="82296" marR="82296" anchor="ctr">
                    <a:solidFill>
                      <a:srgbClr val="2A96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Qué responde</a:t>
                      </a:r>
                    </a:p>
                  </a:txBody>
                  <a:tcPr marL="82296" marR="82296" anchor="ctr">
                    <a:solidFill>
                      <a:srgbClr val="2A96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0B1F2A"/>
                          </a:solidFill>
                          <a:latin typeface="Calibri"/>
                        </a:rPr>
                        <a:t>1 · Normativo interno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Políticas, condiciones vigentes y procedimientos aprobados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Responde qué se DEBE hacer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0B1F2A"/>
                          </a:solidFill>
                          <a:latin typeface="Calibri"/>
                        </a:rPr>
                        <a:t>2 · Operativo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El manual de almacén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Responde cómo se EJECUTA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0B1F2A"/>
                          </a:solidFill>
                          <a:latin typeface="Calibri"/>
                        </a:rPr>
                        <a:t>3 · Histórico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El histórico de incidencias resueltas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Responde qué OCURRIÓ antes y cómo se resolvió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stuKoadroa 6">
            <a:extLst>
              <a:ext uri="{FF2B5EF4-FFF2-40B4-BE49-F238E27FC236}">
                <a16:creationId xmlns:a16="http://schemas.microsoft.com/office/drawing/2014/main" id="{484404CD-0107-9459-A912-77D06F9BA273}"/>
              </a:ext>
            </a:extLst>
          </p:cNvPr>
          <p:cNvSpPr txBox="1"/>
          <p:nvPr/>
        </p:nvSpPr>
        <p:spPr>
          <a:xfrm>
            <a:off x="798490" y="5825731"/>
            <a:ext cx="4237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u-ES" sz="1600" b="1" dirty="0">
                <a:solidFill>
                  <a:schemeClr val="bg1">
                    <a:lumMod val="50000"/>
                  </a:schemeClr>
                </a:solidFill>
              </a:rPr>
              <a:t>S6_tarjeta_jerarquia.pdf</a:t>
            </a:r>
          </a:p>
          <a:p>
            <a:r>
              <a:rPr lang="eu-ES" sz="1600" b="1" dirty="0">
                <a:solidFill>
                  <a:schemeClr val="bg1">
                    <a:lumMod val="50000"/>
                  </a:schemeClr>
                </a:solidFill>
              </a:rPr>
              <a:t>Jerarquia_fuentes_garaia_notebooklm.txt →</a:t>
            </a:r>
          </a:p>
        </p:txBody>
      </p:sp>
      <p:sp>
        <p:nvSpPr>
          <p:cNvPr id="10" name="TestuKoadroa 9">
            <a:extLst>
              <a:ext uri="{FF2B5EF4-FFF2-40B4-BE49-F238E27FC236}">
                <a16:creationId xmlns:a16="http://schemas.microsoft.com/office/drawing/2014/main" id="{30657DBA-DF4F-6577-D016-3299B47C4272}"/>
              </a:ext>
            </a:extLst>
          </p:cNvPr>
          <p:cNvSpPr txBox="1"/>
          <p:nvPr/>
        </p:nvSpPr>
        <p:spPr>
          <a:xfrm>
            <a:off x="4810259" y="5825835"/>
            <a:ext cx="6035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Esta jerarquía puede convertirse en una instrucción permanente del cuaderno: qué fuente manda, qué hacer ante conflictos y cuándo decir «no está documentado».</a:t>
            </a:r>
            <a:endParaRPr lang="eu-E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4EAC32E-32A3-FF0E-7048-0AFE0D26998F}"/>
              </a:ext>
            </a:extLst>
          </p:cNvPr>
          <p:cNvSpPr/>
          <p:nvPr/>
        </p:nvSpPr>
        <p:spPr>
          <a:xfrm>
            <a:off x="2051091" y="4601952"/>
            <a:ext cx="2297430" cy="640080"/>
          </a:xfrm>
          <a:prstGeom prst="roundRect">
            <a:avLst>
              <a:gd name="adj" fmla="val 11429"/>
            </a:avLst>
          </a:prstGeom>
          <a:solidFill>
            <a:srgbClr val="EAC8CB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F3D9FB4-ED48-A8BD-EBC1-0A4E6C825692}"/>
              </a:ext>
            </a:extLst>
          </p:cNvPr>
          <p:cNvSpPr/>
          <p:nvPr/>
        </p:nvSpPr>
        <p:spPr>
          <a:xfrm>
            <a:off x="2124243" y="4763706"/>
            <a:ext cx="2151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documento </a:t>
            </a:r>
            <a:r>
              <a:rPr lang="en-US" sz="1600" b="1" u="sng" dirty="0">
                <a:solidFill>
                  <a:srgbClr val="071D2A"/>
                </a:solidFill>
              </a:rPr>
              <a:t>vigente</a:t>
            </a:r>
            <a:endParaRPr lang="en-US" sz="1600" u="sng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FECBF7B7-7607-0304-B5E2-3018248FD47C}"/>
              </a:ext>
            </a:extLst>
          </p:cNvPr>
          <p:cNvSpPr/>
          <p:nvPr/>
        </p:nvSpPr>
        <p:spPr>
          <a:xfrm>
            <a:off x="4375953" y="477285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F86BA3F4-98AC-C784-7805-EB5B2C5CB266}"/>
              </a:ext>
            </a:extLst>
          </p:cNvPr>
          <p:cNvSpPr/>
          <p:nvPr/>
        </p:nvSpPr>
        <p:spPr>
          <a:xfrm>
            <a:off x="4577121" y="4601952"/>
            <a:ext cx="2297430" cy="640080"/>
          </a:xfrm>
          <a:prstGeom prst="roundRect">
            <a:avLst>
              <a:gd name="adj" fmla="val 11429"/>
            </a:avLst>
          </a:prstGeom>
          <a:solidFill>
            <a:srgbClr val="FFF3D8"/>
          </a:solidFill>
          <a:ln w="15240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531587CD-6D08-6048-0A1A-5B640E8E0196}"/>
              </a:ext>
            </a:extLst>
          </p:cNvPr>
          <p:cNvSpPr/>
          <p:nvPr/>
        </p:nvSpPr>
        <p:spPr>
          <a:xfrm>
            <a:off x="4650273" y="4763706"/>
            <a:ext cx="2151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asistente</a:t>
            </a:r>
            <a:endParaRPr lang="en-US" sz="16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F353B3AF-6115-F78C-D9A8-57C44633D1A0}"/>
              </a:ext>
            </a:extLst>
          </p:cNvPr>
          <p:cNvSpPr/>
          <p:nvPr/>
        </p:nvSpPr>
        <p:spPr>
          <a:xfrm>
            <a:off x="6901983" y="477285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8E6BAD1A-F5A2-B21A-FE0C-BBD068B48984}"/>
              </a:ext>
            </a:extLst>
          </p:cNvPr>
          <p:cNvSpPr/>
          <p:nvPr/>
        </p:nvSpPr>
        <p:spPr>
          <a:xfrm>
            <a:off x="7103151" y="4601952"/>
            <a:ext cx="2297430" cy="640080"/>
          </a:xfrm>
          <a:prstGeom prst="roundRect">
            <a:avLst>
              <a:gd name="adj" fmla="val 11429"/>
            </a:avLst>
          </a:prstGeom>
          <a:solidFill>
            <a:srgbClr val="ABE7D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C7422DD5-ECBE-7DB5-14A7-78E729C5D005}"/>
              </a:ext>
            </a:extLst>
          </p:cNvPr>
          <p:cNvSpPr/>
          <p:nvPr/>
        </p:nvSpPr>
        <p:spPr>
          <a:xfrm>
            <a:off x="7176303" y="4763706"/>
            <a:ext cx="2151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respuesta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83725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16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724768"/>
            <a:ext cx="2011680" cy="38100"/>
          </a:xfrm>
          <a:prstGeom prst="rect">
            <a:avLst/>
          </a:prstGeom>
          <a:solidFill>
            <a:srgbClr val="7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062604"/>
            <a:ext cx="1053370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7A2E36"/>
                </a:solidFill>
                <a:latin typeface="Calibri Light"/>
              </a:rPr>
              <a:t>El histórico </a:t>
            </a:r>
            <a:r>
              <a:rPr lang="es-ES" sz="3600" b="1" u="sng" noProof="0" dirty="0">
                <a:solidFill>
                  <a:srgbClr val="7A2E36"/>
                </a:solidFill>
                <a:latin typeface="Calibri Light"/>
              </a:rPr>
              <a:t>describe</a:t>
            </a:r>
            <a:r>
              <a:rPr lang="es-ES" sz="3600" b="1" noProof="0" dirty="0">
                <a:solidFill>
                  <a:srgbClr val="7A2E36"/>
                </a:solidFill>
                <a:latin typeface="Calibri Light"/>
              </a:rPr>
              <a:t>; no prescribe.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1800" b="0" noProof="0" dirty="0">
                <a:solidFill>
                  <a:srgbClr val="0B1F2A"/>
                </a:solidFill>
                <a:latin typeface="Calibri"/>
              </a:rPr>
              <a:t>Que varias incidencias anteriores se resolvieran de la misma manera no convierte esa práctica en una norma.</a:t>
            </a:r>
          </a:p>
        </p:txBody>
      </p:sp>
      <p:sp>
        <p:nvSpPr>
          <p:cNvPr id="8" name="TestuKoadroa 7">
            <a:extLst>
              <a:ext uri="{FF2B5EF4-FFF2-40B4-BE49-F238E27FC236}">
                <a16:creationId xmlns:a16="http://schemas.microsoft.com/office/drawing/2014/main" id="{B990B280-F392-054E-0D23-A578049D93F3}"/>
              </a:ext>
            </a:extLst>
          </p:cNvPr>
          <p:cNvSpPr txBox="1"/>
          <p:nvPr/>
        </p:nvSpPr>
        <p:spPr>
          <a:xfrm>
            <a:off x="868680" y="5923923"/>
            <a:ext cx="278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u-ES" b="1" dirty="0">
                <a:solidFill>
                  <a:schemeClr val="bg1">
                    <a:lumMod val="50000"/>
                  </a:schemeClr>
                </a:solidFill>
              </a:rPr>
              <a:t>S6_tarjeta_jerarquia.pdf</a:t>
            </a:r>
          </a:p>
        </p:txBody>
      </p:sp>
      <p:pic>
        <p:nvPicPr>
          <p:cNvPr id="10" name="Irudia 9">
            <a:extLst>
              <a:ext uri="{FF2B5EF4-FFF2-40B4-BE49-F238E27FC236}">
                <a16:creationId xmlns:a16="http://schemas.microsoft.com/office/drawing/2014/main" id="{F108D9CF-6BD7-1754-3F9C-1F206538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68" t="14438" r="14628" b="10279"/>
          <a:stretch>
            <a:fillRect/>
          </a:stretch>
        </p:blipFill>
        <p:spPr>
          <a:xfrm>
            <a:off x="1511367" y="2910247"/>
            <a:ext cx="9168959" cy="3059508"/>
          </a:xfrm>
          <a:prstGeom prst="rect">
            <a:avLst/>
          </a:prstGeom>
        </p:spPr>
      </p:pic>
      <p:sp>
        <p:nvSpPr>
          <p:cNvPr id="7" name="TestuKoadroa 6">
            <a:extLst>
              <a:ext uri="{FF2B5EF4-FFF2-40B4-BE49-F238E27FC236}">
                <a16:creationId xmlns:a16="http://schemas.microsoft.com/office/drawing/2014/main" id="{8188889D-8D22-8290-F418-D028820F6A75}"/>
              </a:ext>
            </a:extLst>
          </p:cNvPr>
          <p:cNvSpPr txBox="1"/>
          <p:nvPr/>
        </p:nvSpPr>
        <p:spPr>
          <a:xfrm>
            <a:off x="876019" y="2353240"/>
            <a:ext cx="9532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Una alucinación construida con casos reales puede sonar más convincente que una norma verdadera.</a:t>
            </a: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012C-DA95-BA5D-4156-607C2880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04173-E995-333E-E9E2-E9C36C39E7B4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71E4E-C7B3-C2CF-044C-B2A3B18AEDC3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B4BCC0"/>
                </a:solidFill>
                <a:latin typeface="Calibri"/>
              </a:rPr>
              <a:t>1</a:t>
            </a:r>
            <a:r>
              <a:rPr lang="ca-ES" sz="900" dirty="0">
                <a:solidFill>
                  <a:srgbClr val="B4BCC0"/>
                </a:solidFill>
                <a:latin typeface="Calibri"/>
              </a:rPr>
              <a:t>7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9E2DF-5A0C-E15F-F421-2062724DEFA0}"/>
              </a:ext>
            </a:extLst>
          </p:cNvPr>
          <p:cNvSpPr txBox="1"/>
          <p:nvPr/>
        </p:nvSpPr>
        <p:spPr>
          <a:xfrm>
            <a:off x="868680" y="685800"/>
            <a:ext cx="1045433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3600" b="1" noProof="0" dirty="0">
                <a:solidFill>
                  <a:srgbClr val="0B1F2A"/>
                </a:solidFill>
                <a:latin typeface="Calibri Light"/>
              </a:rPr>
              <a:t>Acceso no es lo mismo que conocimiento disponible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600" b="0" noProof="0" dirty="0">
                <a:solidFill>
                  <a:srgbClr val="5E6A70"/>
                </a:solidFill>
                <a:latin typeface="Calibri"/>
              </a:rPr>
              <a:t>Que algo esté en la carpeta no significa que todo el mundo deba verlo ni que deba usarse para todo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990A8-F83A-276C-B5E9-D89672856FD6}"/>
              </a:ext>
            </a:extLst>
          </p:cNvPr>
          <p:cNvSpPr/>
          <p:nvPr/>
        </p:nvSpPr>
        <p:spPr>
          <a:xfrm>
            <a:off x="868680" y="1783080"/>
            <a:ext cx="1463040" cy="3810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B50B7A-872A-E243-3AE0-C38E006ED069}"/>
              </a:ext>
            </a:extLst>
          </p:cNvPr>
          <p:cNvSpPr/>
          <p:nvPr/>
        </p:nvSpPr>
        <p:spPr>
          <a:xfrm>
            <a:off x="868680" y="2525635"/>
            <a:ext cx="4952847" cy="411480"/>
          </a:xfrm>
          <a:prstGeom prst="rect">
            <a:avLst/>
          </a:prstGeom>
          <a:solidFill>
            <a:srgbClr val="BE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ca-ES" sz="1400" b="1" dirty="0">
                <a:solidFill>
                  <a:srgbClr val="FFFFFF"/>
                </a:solidFill>
                <a:latin typeface="Calibri"/>
              </a:rPr>
              <a:t>RIESGO HABITUAL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035BE-45B2-6621-D6A3-50038903C8F1}"/>
              </a:ext>
            </a:extLst>
          </p:cNvPr>
          <p:cNvSpPr txBox="1"/>
          <p:nvPr/>
        </p:nvSpPr>
        <p:spPr>
          <a:xfrm>
            <a:off x="868680" y="3119995"/>
            <a:ext cx="4952847" cy="1113125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sz="1600" dirty="0">
                <a:solidFill>
                  <a:srgbClr val="0B1F2A"/>
                </a:solidFill>
                <a:latin typeface="Calibri"/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Un solo cuaderno para todos.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Fuentes sensibles mezcladas.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Respuestas correctas para la persona equivocada.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D683C4-469A-6204-5759-30065209EB3E}"/>
              </a:ext>
            </a:extLst>
          </p:cNvPr>
          <p:cNvSpPr/>
          <p:nvPr/>
        </p:nvSpPr>
        <p:spPr>
          <a:xfrm>
            <a:off x="6370167" y="2525635"/>
            <a:ext cx="4952847" cy="41148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ca-ES" sz="1400" b="1" dirty="0">
                <a:solidFill>
                  <a:srgbClr val="FFFFFF"/>
                </a:solidFill>
                <a:latin typeface="Calibri"/>
              </a:rPr>
              <a:t>PREGUNTA CORRECTA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D5F507-DC4A-29CE-9641-D368FCA53AAB}"/>
              </a:ext>
            </a:extLst>
          </p:cNvPr>
          <p:cNvSpPr txBox="1"/>
          <p:nvPr/>
        </p:nvSpPr>
        <p:spPr>
          <a:xfrm>
            <a:off x="6370167" y="3119995"/>
            <a:ext cx="4952847" cy="1113125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·  ¿Qué fuentes necesita esta tarea?</a:t>
            </a:r>
          </a:p>
          <a:p>
            <a:pPr>
              <a:spcAft>
                <a:spcPts val="1100"/>
              </a:spcAft>
            </a:pPr>
            <a:r>
              <a:rPr lang="es-ES" sz="1600" dirty="0">
                <a:solidFill>
                  <a:srgbClr val="0B1F2A"/>
                </a:solidFill>
              </a:rPr>
              <a:t>·  ¿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Quién puede consultarlas?</a:t>
            </a:r>
          </a:p>
          <a:p>
            <a:pPr>
              <a:spcAft>
                <a:spcPts val="1100"/>
              </a:spcAft>
            </a:pPr>
            <a:r>
              <a:rPr lang="es-ES" sz="1600" dirty="0">
                <a:solidFill>
                  <a:srgbClr val="0B1F2A"/>
                </a:solidFill>
              </a:rPr>
              <a:t>·  ¿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Qué respuesta se puede justificar?</a:t>
            </a:r>
          </a:p>
        </p:txBody>
      </p:sp>
    </p:spTree>
    <p:extLst>
      <p:ext uri="{BB962C8B-B14F-4D97-AF65-F5344CB8AC3E}">
        <p14:creationId xmlns:p14="http://schemas.microsoft.com/office/powerpoint/2010/main" val="3152597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B4BCC0"/>
                </a:solidFill>
                <a:latin typeface="Calibri"/>
              </a:rPr>
              <a:t>1</a:t>
            </a:r>
            <a:r>
              <a:rPr lang="ca-ES" sz="900" dirty="0">
                <a:solidFill>
                  <a:srgbClr val="B4BCC0"/>
                </a:solidFill>
                <a:latin typeface="Calibri"/>
              </a:rPr>
              <a:t>8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 Light"/>
              </a:rPr>
              <a:t>NotebookLM sirve para aprender; no resuelve toda la arquitectura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2822" y="1399983"/>
            <a:ext cx="1463040" cy="38100"/>
          </a:xfrm>
          <a:prstGeom prst="rect">
            <a:avLst/>
          </a:prstGeom>
          <a:solidFill>
            <a:srgbClr val="BE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8477" y="2690447"/>
            <a:ext cx="10724494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lang="es-ES" sz="2400" noProof="0" dirty="0">
                <a:solidFill>
                  <a:srgbClr val="0B1F2A"/>
                </a:solidFill>
                <a:latin typeface="Calibri"/>
              </a:rPr>
              <a:t>Un cuaderno compartido no equivale a un sistema de permisos finos por rol.</a:t>
            </a:r>
          </a:p>
          <a:p>
            <a:pPr>
              <a:spcAft>
                <a:spcPts val="1300"/>
              </a:spcAft>
            </a:pPr>
            <a:r>
              <a:rPr lang="es-ES" sz="2400" noProof="0" dirty="0">
                <a:solidFill>
                  <a:srgbClr val="0B1F2A"/>
                </a:solidFill>
                <a:latin typeface="Calibri"/>
              </a:rPr>
              <a:t>Ocultar fuentes en una vista no es lo mismo que revocar acceso al contenido.</a:t>
            </a:r>
          </a:p>
          <a:p>
            <a:pPr>
              <a:spcAft>
                <a:spcPts val="1300"/>
              </a:spcAft>
            </a:pPr>
            <a:r>
              <a:rPr lang="es-ES" sz="2400" noProof="0" dirty="0">
                <a:solidFill>
                  <a:srgbClr val="0B1F2A"/>
                </a:solidFill>
                <a:latin typeface="Calibri"/>
              </a:rPr>
              <a:t>Para una empresa real, hay que decidir arquitectura, permisos, auditoría y mantenimiento.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03520"/>
            <a:ext cx="10454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sz="2400" b="1" dirty="0">
                <a:solidFill>
                  <a:srgbClr val="BE525C"/>
                </a:solidFill>
                <a:latin typeface="Calibri"/>
              </a:rPr>
              <a:t>H</a:t>
            </a:r>
            <a:r>
              <a:rPr lang="es-ES" sz="2400" b="1" noProof="0" dirty="0" err="1">
                <a:solidFill>
                  <a:srgbClr val="BE525C"/>
                </a:solidFill>
                <a:latin typeface="Calibri"/>
              </a:rPr>
              <a:t>erramienta</a:t>
            </a:r>
            <a:r>
              <a:rPr lang="es-ES" sz="2400" b="1" noProof="0" dirty="0">
                <a:solidFill>
                  <a:srgbClr val="BE525C"/>
                </a:solidFill>
                <a:latin typeface="Calibri"/>
              </a:rPr>
              <a:t> útil ≠ arquitectura empresarial completa.</a:t>
            </a:r>
          </a:p>
        </p:txBody>
      </p:sp>
      <p:sp>
        <p:nvSpPr>
          <p:cNvPr id="8" name="TestuKoadroa 7">
            <a:extLst>
              <a:ext uri="{FF2B5EF4-FFF2-40B4-BE49-F238E27FC236}">
                <a16:creationId xmlns:a16="http://schemas.microsoft.com/office/drawing/2014/main" id="{CD044C49-DE24-04EE-F2BC-A8C611F00FAF}"/>
              </a:ext>
            </a:extLst>
          </p:cNvPr>
          <p:cNvSpPr txBox="1"/>
          <p:nvPr/>
        </p:nvSpPr>
        <p:spPr>
          <a:xfrm>
            <a:off x="828477" y="1793799"/>
            <a:ext cx="10850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 una herramienta excelente para practicar, pero no sustituye decisiones de permisos, versión y responsabilidad.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0974-1B76-288B-CFEB-7595BBE4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90E85-3021-FB46-2D54-9953D5E82DF9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D180B-B75B-A332-976B-3844D8AB236C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B4BCC0"/>
                </a:solidFill>
                <a:latin typeface="Calibri"/>
              </a:rPr>
              <a:t>1</a:t>
            </a:r>
            <a:r>
              <a:rPr lang="ca-ES" sz="900" dirty="0">
                <a:solidFill>
                  <a:srgbClr val="B4BCC0"/>
                </a:solidFill>
                <a:latin typeface="Calibri"/>
              </a:rPr>
              <a:t>9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39286-78A0-7473-DACD-DA7FA1E39A1F}"/>
              </a:ext>
            </a:extLst>
          </p:cNvPr>
          <p:cNvSpPr txBox="1"/>
          <p:nvPr/>
        </p:nvSpPr>
        <p:spPr>
          <a:xfrm>
            <a:off x="868680" y="685800"/>
            <a:ext cx="1045433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3600" b="1" noProof="0" dirty="0">
                <a:solidFill>
                  <a:srgbClr val="0B1F2A"/>
                </a:solidFill>
                <a:latin typeface="Calibri Light"/>
              </a:rPr>
              <a:t>Privacidad, seguridad y soberanía no son lo mismo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600" b="0" noProof="0" dirty="0">
                <a:solidFill>
                  <a:srgbClr val="5E6A70"/>
                </a:solidFill>
                <a:latin typeface="Calibri"/>
              </a:rPr>
              <a:t>Tres conversaciones distintas que a menudo se mezclan.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3D315-44BD-C39C-3B66-07A280A6BCD7}"/>
              </a:ext>
            </a:extLst>
          </p:cNvPr>
          <p:cNvSpPr/>
          <p:nvPr/>
        </p:nvSpPr>
        <p:spPr>
          <a:xfrm>
            <a:off x="868680" y="1783080"/>
            <a:ext cx="1463040" cy="3810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77119-13CB-7407-D6DC-BAF328E2FB11}"/>
              </a:ext>
            </a:extLst>
          </p:cNvPr>
          <p:cNvSpPr/>
          <p:nvPr/>
        </p:nvSpPr>
        <p:spPr>
          <a:xfrm>
            <a:off x="868680" y="2292308"/>
            <a:ext cx="5027623" cy="411480"/>
          </a:xfrm>
          <a:prstGeom prst="rect">
            <a:avLst/>
          </a:prstGeom>
          <a:solidFill>
            <a:srgbClr val="D09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ca-ES" sz="1400" b="1" dirty="0">
                <a:solidFill>
                  <a:srgbClr val="FFFFFF"/>
                </a:solidFill>
                <a:latin typeface="Calibri"/>
              </a:rPr>
              <a:t>PRIVACIDAD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28186-EB21-ADD1-0B50-065FBBD59FD7}"/>
              </a:ext>
            </a:extLst>
          </p:cNvPr>
          <p:cNvSpPr txBox="1"/>
          <p:nvPr/>
        </p:nvSpPr>
        <p:spPr>
          <a:xfrm>
            <a:off x="868680" y="2886668"/>
            <a:ext cx="4952847" cy="1113125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sz="1600" dirty="0">
                <a:solidFill>
                  <a:srgbClr val="0B1F2A"/>
                </a:solidFill>
                <a:latin typeface="Calibri"/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Qué hace el proveedor con datos, </a:t>
            </a:r>
            <a:r>
              <a:rPr lang="es-ES" sz="1600" dirty="0" err="1">
                <a:solidFill>
                  <a:srgbClr val="0B1F2A"/>
                </a:solidFill>
                <a:latin typeface="Calibri"/>
              </a:rPr>
              <a:t>prompts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 y </a:t>
            </a:r>
            <a:r>
              <a:rPr lang="es-ES" sz="1600" dirty="0" err="1">
                <a:solidFill>
                  <a:srgbClr val="0B1F2A"/>
                </a:solidFill>
                <a:latin typeface="Calibri"/>
              </a:rPr>
              <a:t>feedback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Qué promete respecto a entrenamiento y revisión.</a:t>
            </a:r>
          </a:p>
          <a:p>
            <a:pPr>
              <a:spcAft>
                <a:spcPts val="1100"/>
              </a:spcAft>
            </a:pPr>
            <a:endParaRPr lang="es-ES" sz="1600" dirty="0">
              <a:solidFill>
                <a:srgbClr val="0B1F2A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004DC-AE3F-5F0F-B3C5-0F65605DB66E}"/>
              </a:ext>
            </a:extLst>
          </p:cNvPr>
          <p:cNvSpPr/>
          <p:nvPr/>
        </p:nvSpPr>
        <p:spPr>
          <a:xfrm>
            <a:off x="6370167" y="2292308"/>
            <a:ext cx="4952847" cy="41148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ca-ES" sz="1400" b="1" dirty="0">
                <a:solidFill>
                  <a:srgbClr val="FFFFFF"/>
                </a:solidFill>
                <a:latin typeface="Calibri"/>
              </a:rPr>
              <a:t>SEGURIDAD / CONTROL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8AB17-5269-D7C1-65AB-3F55E3D880AF}"/>
              </a:ext>
            </a:extLst>
          </p:cNvPr>
          <p:cNvSpPr txBox="1"/>
          <p:nvPr/>
        </p:nvSpPr>
        <p:spPr>
          <a:xfrm>
            <a:off x="6370167" y="2886668"/>
            <a:ext cx="4952847" cy="725840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·  Quién puede acceder a qué fuente.</a:t>
            </a:r>
          </a:p>
          <a:p>
            <a:pPr>
              <a:spcAft>
                <a:spcPts val="1100"/>
              </a:spcAft>
            </a:pPr>
            <a:r>
              <a:rPr lang="es-ES" sz="1600" dirty="0">
                <a:solidFill>
                  <a:srgbClr val="0B1F2A"/>
                </a:solidFill>
              </a:rPr>
              <a:t>·  Qué 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se registra, audita y revoca.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03DCE5-B912-FCBC-86C7-104475FAC1E7}"/>
              </a:ext>
            </a:extLst>
          </p:cNvPr>
          <p:cNvSpPr/>
          <p:nvPr/>
        </p:nvSpPr>
        <p:spPr>
          <a:xfrm>
            <a:off x="868680" y="5074920"/>
            <a:ext cx="2194560" cy="320040"/>
          </a:xfrm>
          <a:prstGeom prst="rect">
            <a:avLst/>
          </a:prstGeom>
          <a:solidFill>
            <a:srgbClr val="BE525C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  SOBERANÍA</a:t>
            </a:r>
            <a:endParaRPr lang="en-US" sz="15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F0D108D-E417-5F1A-35BD-FD0DCEC0BA0F}"/>
              </a:ext>
            </a:extLst>
          </p:cNvPr>
          <p:cNvSpPr/>
          <p:nvPr/>
        </p:nvSpPr>
        <p:spPr>
          <a:xfrm>
            <a:off x="3200400" y="5084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s-ES" sz="1600" noProof="0">
                <a:solidFill>
                  <a:srgbClr val="0B1F2A"/>
                </a:solidFill>
                <a:latin typeface="Calibri"/>
              </a:rPr>
              <a:t>Dónde reside y se procesa la información, bajo qué jurisdicción y con qué dependencia tecnológica.</a:t>
            </a:r>
          </a:p>
        </p:txBody>
      </p:sp>
    </p:spTree>
    <p:extLst>
      <p:ext uri="{BB962C8B-B14F-4D97-AF65-F5344CB8AC3E}">
        <p14:creationId xmlns:p14="http://schemas.microsoft.com/office/powerpoint/2010/main" val="343603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1AEC-6BCF-0D53-FA5B-D8346263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E39E24-EDF7-26C3-5961-168B9D17A52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FE999-03D5-6347-4CE8-BC2F8FCFA3D6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C8660-C7D3-0ACF-0149-EE02CDE1843C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20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90FCB2-C31E-2386-8487-3968F818FB76}"/>
              </a:ext>
            </a:extLst>
          </p:cNvPr>
          <p:cNvSpPr/>
          <p:nvPr/>
        </p:nvSpPr>
        <p:spPr>
          <a:xfrm>
            <a:off x="647748" y="644989"/>
            <a:ext cx="2011680" cy="38100"/>
          </a:xfrm>
          <a:prstGeom prst="rect">
            <a:avLst/>
          </a:prstGeom>
          <a:solidFill>
            <a:srgbClr val="A87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ED02D-11AF-9872-DA71-EC21FFD48ECB}"/>
              </a:ext>
            </a:extLst>
          </p:cNvPr>
          <p:cNvSpPr txBox="1"/>
          <p:nvPr/>
        </p:nvSpPr>
        <p:spPr>
          <a:xfrm>
            <a:off x="647748" y="1056469"/>
            <a:ext cx="1081600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A87324"/>
                </a:solidFill>
                <a:latin typeface="Calibri Light"/>
              </a:rPr>
              <a:t>Una base de conocimiento, muchos productos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2400" b="0" noProof="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El valor no es solo responder: es transformar conocimiento según el uso</a:t>
            </a:r>
          </a:p>
        </p:txBody>
      </p:sp>
      <p:sp>
        <p:nvSpPr>
          <p:cNvPr id="7" name="TestuKoadroa 6">
            <a:extLst>
              <a:ext uri="{FF2B5EF4-FFF2-40B4-BE49-F238E27FC236}">
                <a16:creationId xmlns:a16="http://schemas.microsoft.com/office/drawing/2014/main" id="{CB73EAFC-F792-AC9D-12B7-D0010049EBFA}"/>
              </a:ext>
            </a:extLst>
          </p:cNvPr>
          <p:cNvSpPr txBox="1"/>
          <p:nvPr/>
        </p:nvSpPr>
        <p:spPr>
          <a:xfrm>
            <a:off x="720377" y="2834440"/>
            <a:ext cx="10977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2A9684"/>
              </a:buClr>
            </a:pPr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NotebookLM/Studio permite enseñar una idea más grande: el mismo corpus puede servir a perfiles distintos si cambia el artefacto de salida.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1822106-4A6C-1CBE-BDE1-D3A01E5BD44B}"/>
              </a:ext>
            </a:extLst>
          </p:cNvPr>
          <p:cNvSpPr/>
          <p:nvPr/>
        </p:nvSpPr>
        <p:spPr>
          <a:xfrm>
            <a:off x="1143000" y="4389120"/>
            <a:ext cx="14554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3F795D1-C166-4C36-EA53-594FFB824E7D}"/>
              </a:ext>
            </a:extLst>
          </p:cNvPr>
          <p:cNvSpPr/>
          <p:nvPr/>
        </p:nvSpPr>
        <p:spPr>
          <a:xfrm>
            <a:off x="1216152" y="4544568"/>
            <a:ext cx="1309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corpus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9AFE9557-9DD8-5410-06D1-35BC548A2718}"/>
              </a:ext>
            </a:extLst>
          </p:cNvPr>
          <p:cNvSpPr/>
          <p:nvPr/>
        </p:nvSpPr>
        <p:spPr>
          <a:xfrm>
            <a:off x="2625852" y="455371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1319E8F3-63DC-4BF1-4AC1-DEBBEE94A8C9}"/>
              </a:ext>
            </a:extLst>
          </p:cNvPr>
          <p:cNvSpPr/>
          <p:nvPr/>
        </p:nvSpPr>
        <p:spPr>
          <a:xfrm>
            <a:off x="2827020" y="4389120"/>
            <a:ext cx="1455420" cy="640080"/>
          </a:xfrm>
          <a:prstGeom prst="roundRect">
            <a:avLst>
              <a:gd name="adj" fmla="val 11429"/>
            </a:avLst>
          </a:prstGeom>
          <a:solidFill>
            <a:srgbClr val="FFF3D8"/>
          </a:solidFill>
          <a:ln w="15240">
            <a:solidFill>
              <a:srgbClr val="FFF3D8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8CE5EBF6-8215-AACB-EC45-91CC757AC5C9}"/>
              </a:ext>
            </a:extLst>
          </p:cNvPr>
          <p:cNvSpPr/>
          <p:nvPr/>
        </p:nvSpPr>
        <p:spPr>
          <a:xfrm>
            <a:off x="2900172" y="4544568"/>
            <a:ext cx="1309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chat</a:t>
            </a:r>
            <a:endParaRPr lang="en-US" sz="16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FFDBA86-6586-5EF9-51C8-3533B400D5A1}"/>
              </a:ext>
            </a:extLst>
          </p:cNvPr>
          <p:cNvSpPr/>
          <p:nvPr/>
        </p:nvSpPr>
        <p:spPr>
          <a:xfrm>
            <a:off x="4309872" y="455371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1BF023CD-ED81-EBAE-B5C2-7210A4D3F946}"/>
              </a:ext>
            </a:extLst>
          </p:cNvPr>
          <p:cNvSpPr/>
          <p:nvPr/>
        </p:nvSpPr>
        <p:spPr>
          <a:xfrm>
            <a:off x="4511040" y="4389120"/>
            <a:ext cx="14554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ECF05DA-7C98-2F1D-0509-9049A854BD39}"/>
              </a:ext>
            </a:extLst>
          </p:cNvPr>
          <p:cNvSpPr/>
          <p:nvPr/>
        </p:nvSpPr>
        <p:spPr>
          <a:xfrm>
            <a:off x="4584192" y="4544568"/>
            <a:ext cx="1309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tabla</a:t>
            </a:r>
            <a:endParaRPr lang="en-US" sz="16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15185491-FCC7-F3E4-B5A3-8F01E517BB61}"/>
              </a:ext>
            </a:extLst>
          </p:cNvPr>
          <p:cNvSpPr/>
          <p:nvPr/>
        </p:nvSpPr>
        <p:spPr>
          <a:xfrm>
            <a:off x="5993892" y="455371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04D0F82C-02AE-B64C-B59F-2A9118188115}"/>
              </a:ext>
            </a:extLst>
          </p:cNvPr>
          <p:cNvSpPr/>
          <p:nvPr/>
        </p:nvSpPr>
        <p:spPr>
          <a:xfrm>
            <a:off x="6195060" y="4389120"/>
            <a:ext cx="1455420" cy="640080"/>
          </a:xfrm>
          <a:prstGeom prst="roundRect">
            <a:avLst>
              <a:gd name="adj" fmla="val 11429"/>
            </a:avLst>
          </a:prstGeom>
          <a:solidFill>
            <a:srgbClr val="F7E2DE"/>
          </a:solidFill>
          <a:ln w="15240">
            <a:solidFill>
              <a:srgbClr val="F7E2DE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986BBFE6-A28C-4AE0-2C08-C5C020879B29}"/>
              </a:ext>
            </a:extLst>
          </p:cNvPr>
          <p:cNvSpPr/>
          <p:nvPr/>
        </p:nvSpPr>
        <p:spPr>
          <a:xfrm>
            <a:off x="6268212" y="4544568"/>
            <a:ext cx="1309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informe</a:t>
            </a:r>
            <a:endParaRPr lang="en-US" sz="16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96571681-6AF2-76D9-48DA-7D43AF29DF19}"/>
              </a:ext>
            </a:extLst>
          </p:cNvPr>
          <p:cNvSpPr/>
          <p:nvPr/>
        </p:nvSpPr>
        <p:spPr>
          <a:xfrm>
            <a:off x="7677912" y="455371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B8AAFD5B-B564-6546-2310-914105ADDA2C}"/>
              </a:ext>
            </a:extLst>
          </p:cNvPr>
          <p:cNvSpPr/>
          <p:nvPr/>
        </p:nvSpPr>
        <p:spPr>
          <a:xfrm>
            <a:off x="7879080" y="4389120"/>
            <a:ext cx="14554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415C3272-D306-3332-3BDC-6D4899915D8B}"/>
              </a:ext>
            </a:extLst>
          </p:cNvPr>
          <p:cNvSpPr/>
          <p:nvPr/>
        </p:nvSpPr>
        <p:spPr>
          <a:xfrm>
            <a:off x="7952232" y="4544568"/>
            <a:ext cx="1309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infografía</a:t>
            </a:r>
            <a:endParaRPr lang="en-US" sz="16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AC872F07-9E9C-81A3-5CAA-A834371D6BF8}"/>
              </a:ext>
            </a:extLst>
          </p:cNvPr>
          <p:cNvSpPr/>
          <p:nvPr/>
        </p:nvSpPr>
        <p:spPr>
          <a:xfrm>
            <a:off x="9361932" y="455371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7324"/>
                </a:solidFill>
              </a:rPr>
              <a:t>→</a:t>
            </a:r>
            <a:endParaRPr lang="en-US" sz="2000" dirty="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348F5622-3E42-2FB3-915D-7819AC873B88}"/>
              </a:ext>
            </a:extLst>
          </p:cNvPr>
          <p:cNvSpPr/>
          <p:nvPr/>
        </p:nvSpPr>
        <p:spPr>
          <a:xfrm>
            <a:off x="9563100" y="4389120"/>
            <a:ext cx="1455420" cy="640080"/>
          </a:xfrm>
          <a:prstGeom prst="roundRect">
            <a:avLst>
              <a:gd name="adj" fmla="val 11429"/>
            </a:avLst>
          </a:prstGeom>
          <a:solidFill>
            <a:srgbClr val="EAF3F0"/>
          </a:solidFill>
          <a:ln w="15240">
            <a:solidFill>
              <a:srgbClr val="EAF3F0"/>
            </a:solidFill>
            <a:prstDash val="solid"/>
          </a:ln>
        </p:spPr>
        <p:txBody>
          <a:bodyPr/>
          <a:lstStyle/>
          <a:p>
            <a:endParaRPr lang="eu-ES" sz="200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AF181FDC-BD2B-93F6-9F1C-8CFBB2B45992}"/>
              </a:ext>
            </a:extLst>
          </p:cNvPr>
          <p:cNvSpPr/>
          <p:nvPr/>
        </p:nvSpPr>
        <p:spPr>
          <a:xfrm>
            <a:off x="9636252" y="4544568"/>
            <a:ext cx="1309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D2A"/>
                </a:solidFill>
              </a:rPr>
              <a:t>formación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4482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37F59-A547-4A0E-4B89-ED0E77C7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3AA2BE-E95E-B64E-8500-DC9EE726F49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6BBD5-F904-D935-19C4-3C4508CDD4FF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BA0A1-E47C-7A03-3EE3-C949F14C98F3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21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2FC62-4C82-1A5A-0518-526AE04F3C44}"/>
              </a:ext>
            </a:extLst>
          </p:cNvPr>
          <p:cNvSpPr/>
          <p:nvPr/>
        </p:nvSpPr>
        <p:spPr>
          <a:xfrm>
            <a:off x="647748" y="644989"/>
            <a:ext cx="2011680" cy="38100"/>
          </a:xfrm>
          <a:prstGeom prst="rect">
            <a:avLst/>
          </a:prstGeom>
          <a:solidFill>
            <a:srgbClr val="164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B4AA3-BC2C-0366-8F3C-06200B92761D}"/>
              </a:ext>
            </a:extLst>
          </p:cNvPr>
          <p:cNvSpPr txBox="1"/>
          <p:nvPr/>
        </p:nvSpPr>
        <p:spPr>
          <a:xfrm>
            <a:off x="647748" y="1056469"/>
            <a:ext cx="1081600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3600" b="1" noProof="0" dirty="0">
                <a:solidFill>
                  <a:srgbClr val="164F46"/>
                </a:solidFill>
                <a:latin typeface="Calibri Light"/>
              </a:rPr>
              <a:t>La prueba de un buen asistente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s-ES" sz="2400" b="0" noProof="0" dirty="0">
                <a:solidFill>
                  <a:srgbClr val="0B1F2A"/>
                </a:solidFill>
                <a:latin typeface="Calibri"/>
              </a:rPr>
              <a:t>No es si responde bonito. Es si controla su propio alcance.</a:t>
            </a:r>
          </a:p>
        </p:txBody>
      </p:sp>
      <p:sp>
        <p:nvSpPr>
          <p:cNvPr id="7" name="TestuKoadroa 6">
            <a:extLst>
              <a:ext uri="{FF2B5EF4-FFF2-40B4-BE49-F238E27FC236}">
                <a16:creationId xmlns:a16="http://schemas.microsoft.com/office/drawing/2014/main" id="{08768871-81DE-4AF4-6FE7-C78605435DF8}"/>
              </a:ext>
            </a:extLst>
          </p:cNvPr>
          <p:cNvSpPr txBox="1"/>
          <p:nvPr/>
        </p:nvSpPr>
        <p:spPr>
          <a:xfrm>
            <a:off x="933320" y="2544357"/>
            <a:ext cx="1073947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Clr>
                <a:srgbClr val="2A9684"/>
              </a:buClr>
              <a:buFont typeface="+mj-lt"/>
              <a:buAutoNum type="arabicPeriod"/>
            </a:pPr>
            <a:r>
              <a:rPr lang="es-ES" sz="2800" dirty="0"/>
              <a:t>¿Cita una fuente concreta cuando responde?</a:t>
            </a:r>
          </a:p>
          <a:p>
            <a:pPr marL="514350" indent="-514350">
              <a:lnSpc>
                <a:spcPct val="150000"/>
              </a:lnSpc>
              <a:buClr>
                <a:srgbClr val="2A9684"/>
              </a:buClr>
              <a:buFont typeface="+mj-lt"/>
              <a:buAutoNum type="arabicPeriod"/>
            </a:pPr>
            <a:r>
              <a:rPr lang="es-ES" sz="2800" dirty="0"/>
              <a:t>¿Separa lo escrito de lo que deduce?</a:t>
            </a:r>
          </a:p>
          <a:p>
            <a:pPr marL="514350" indent="-514350">
              <a:lnSpc>
                <a:spcPct val="150000"/>
              </a:lnSpc>
              <a:buClr>
                <a:srgbClr val="2A9684"/>
              </a:buClr>
              <a:buFont typeface="+mj-lt"/>
              <a:buAutoNum type="arabicPeriod"/>
            </a:pPr>
            <a:r>
              <a:rPr lang="es-ES" sz="2800" dirty="0"/>
              <a:t>¿Reconoce lo que no está documentado?</a:t>
            </a:r>
          </a:p>
          <a:p>
            <a:pPr marL="514350" indent="-514350">
              <a:lnSpc>
                <a:spcPct val="150000"/>
              </a:lnSpc>
              <a:buClr>
                <a:srgbClr val="2A9684"/>
              </a:buClr>
              <a:buFont typeface="+mj-lt"/>
              <a:buAutoNum type="arabicPeriod"/>
            </a:pPr>
            <a:r>
              <a:rPr lang="es-ES" sz="2800" dirty="0"/>
              <a:t>¿Detecta conflictos entre versiones?</a:t>
            </a:r>
          </a:p>
          <a:p>
            <a:pPr marL="514350" indent="-514350">
              <a:lnSpc>
                <a:spcPct val="150000"/>
              </a:lnSpc>
              <a:buClr>
                <a:srgbClr val="2A9684"/>
              </a:buClr>
              <a:buFont typeface="+mj-lt"/>
              <a:buAutoNum type="arabicPeriod"/>
            </a:pPr>
            <a:r>
              <a:rPr lang="es-ES" sz="2800" dirty="0"/>
              <a:t>¿Remite a la persona o área que decide cuando no puede resolverlo?</a:t>
            </a:r>
          </a:p>
        </p:txBody>
      </p:sp>
    </p:spTree>
    <p:extLst>
      <p:ext uri="{BB962C8B-B14F-4D97-AF65-F5344CB8AC3E}">
        <p14:creationId xmlns:p14="http://schemas.microsoft.com/office/powerpoint/2010/main" val="139108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4FE9-332E-F11B-65CA-DE5C5BEF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219B0-4E41-9812-D738-78D61243C015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6B43C-148D-E313-E7F5-F732DC3A3A3C}"/>
              </a:ext>
            </a:extLst>
          </p:cNvPr>
          <p:cNvSpPr txBox="1"/>
          <p:nvPr/>
        </p:nvSpPr>
        <p:spPr>
          <a:xfrm>
            <a:off x="11022933" y="6382512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22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D4051-5C4B-1A63-30BC-0B2513F01F92}"/>
              </a:ext>
            </a:extLst>
          </p:cNvPr>
          <p:cNvSpPr txBox="1"/>
          <p:nvPr/>
        </p:nvSpPr>
        <p:spPr>
          <a:xfrm>
            <a:off x="868680" y="685800"/>
            <a:ext cx="1045433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3600" b="1" noProof="0" dirty="0">
                <a:solidFill>
                  <a:srgbClr val="0B1F2A"/>
                </a:solidFill>
                <a:latin typeface="Calibri Light"/>
              </a:rPr>
              <a:t>La misma respuesta dos veces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600" b="0" noProof="0" dirty="0">
                <a:solidFill>
                  <a:srgbClr val="5E6A70"/>
                </a:solidFill>
                <a:latin typeface="Calibri"/>
              </a:rPr>
              <a:t>Suena igual de bien. Solo una se puede comprobar.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489675-FF5C-01D5-5222-CE8A129A5CB1}"/>
              </a:ext>
            </a:extLst>
          </p:cNvPr>
          <p:cNvSpPr/>
          <p:nvPr/>
        </p:nvSpPr>
        <p:spPr>
          <a:xfrm>
            <a:off x="868680" y="1783080"/>
            <a:ext cx="1463040" cy="3810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389C3C-2B53-B34C-8467-F73C37B7A7E2}"/>
              </a:ext>
            </a:extLst>
          </p:cNvPr>
          <p:cNvSpPr/>
          <p:nvPr/>
        </p:nvSpPr>
        <p:spPr>
          <a:xfrm>
            <a:off x="868680" y="2077901"/>
            <a:ext cx="4952847" cy="411480"/>
          </a:xfrm>
          <a:prstGeom prst="rect">
            <a:avLst/>
          </a:prstGeom>
          <a:solidFill>
            <a:srgbClr val="BE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ca-ES" sz="1400" b="1" dirty="0">
                <a:solidFill>
                  <a:srgbClr val="FFFFFF"/>
                </a:solidFill>
                <a:latin typeface="Calibri"/>
              </a:rPr>
              <a:t>SIN FUENTE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2AC40-5681-BD90-BE0B-4C30D0FF7A9F}"/>
              </a:ext>
            </a:extLst>
          </p:cNvPr>
          <p:cNvSpPr txBox="1"/>
          <p:nvPr/>
        </p:nvSpPr>
        <p:spPr>
          <a:xfrm>
            <a:off x="868680" y="2672261"/>
            <a:ext cx="4952847" cy="1500411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sz="1600" dirty="0">
                <a:solidFill>
                  <a:srgbClr val="0B1F2A"/>
                </a:solidFill>
                <a:latin typeface="Calibri"/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“El plazo es de X días.”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Parece claro.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  <a:latin typeface="Calibri"/>
              </a:rPr>
              <a:t>Cuesta comprobarlo sin volver al documento</a:t>
            </a:r>
          </a:p>
          <a:p>
            <a:pPr>
              <a:spcAft>
                <a:spcPts val="1100"/>
              </a:spcAft>
            </a:pPr>
            <a:r>
              <a:rPr lang="eu-ES" sz="1600" dirty="0">
                <a:solidFill>
                  <a:srgbClr val="0B1F2A"/>
                </a:solidFill>
              </a:rPr>
              <a:t>·  </a:t>
            </a:r>
            <a:r>
              <a:rPr lang="es-ES" sz="1600" dirty="0">
                <a:solidFill>
                  <a:srgbClr val="0B1F2A"/>
                </a:solidFill>
              </a:rPr>
              <a:t>Si está mal, te enteras con la reclamación</a:t>
            </a:r>
            <a:endParaRPr lang="es-ES" sz="1600" dirty="0">
              <a:solidFill>
                <a:srgbClr val="0B1F2A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3A2974-C570-F946-46C5-93C875F4DC92}"/>
              </a:ext>
            </a:extLst>
          </p:cNvPr>
          <p:cNvSpPr/>
          <p:nvPr/>
        </p:nvSpPr>
        <p:spPr>
          <a:xfrm>
            <a:off x="6370167" y="2077901"/>
            <a:ext cx="5208029" cy="41148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lang="ca-ES" sz="1400" b="1" dirty="0">
                <a:solidFill>
                  <a:srgbClr val="FFFFFF"/>
                </a:solidFill>
                <a:latin typeface="Calibri"/>
              </a:rPr>
              <a:t>CON FUENTE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8483-BD38-60CB-814F-2410446307DB}"/>
              </a:ext>
            </a:extLst>
          </p:cNvPr>
          <p:cNvSpPr txBox="1"/>
          <p:nvPr/>
        </p:nvSpPr>
        <p:spPr>
          <a:xfrm>
            <a:off x="6370167" y="2672261"/>
            <a:ext cx="5208029" cy="1500411"/>
          </a:xfrm>
          <a:prstGeom prst="rect">
            <a:avLst/>
          </a:prstGeom>
          <a:noFill/>
        </p:spPr>
        <p:txBody>
          <a:bodyPr wrap="square" lIns="128016">
            <a:spAutoFit/>
          </a:bodyPr>
          <a:lstStyle/>
          <a:p>
            <a:pPr>
              <a:spcAft>
                <a:spcPts val="1100"/>
              </a:spcAft>
            </a:pP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·  “Según política vigente, apartado 3: X días.”</a:t>
            </a:r>
          </a:p>
          <a:p>
            <a:pPr>
              <a:spcAft>
                <a:spcPts val="1100"/>
              </a:spcAft>
            </a:pPr>
            <a:r>
              <a:rPr lang="es-ES" sz="1600" dirty="0">
                <a:solidFill>
                  <a:srgbClr val="0B1F2A"/>
                </a:solidFill>
              </a:rPr>
              <a:t>·  Parece 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igual de claro.</a:t>
            </a:r>
          </a:p>
          <a:p>
            <a:pPr>
              <a:spcAft>
                <a:spcPts val="1100"/>
              </a:spcAft>
            </a:pPr>
            <a:r>
              <a:rPr lang="es-ES" sz="1600" dirty="0">
                <a:solidFill>
                  <a:srgbClr val="0B1F2A"/>
                </a:solidFill>
              </a:rPr>
              <a:t>·  Haces </a:t>
            </a:r>
            <a:r>
              <a:rPr lang="es-ES" sz="1600" noProof="0" dirty="0">
                <a:solidFill>
                  <a:srgbClr val="0B1F2A"/>
                </a:solidFill>
                <a:latin typeface="Calibri"/>
              </a:rPr>
              <a:t>clic en la cita y compruebas el fragmento.</a:t>
            </a:r>
          </a:p>
          <a:p>
            <a:pPr>
              <a:spcAft>
                <a:spcPts val="1100"/>
              </a:spcAft>
            </a:pPr>
            <a:r>
              <a:rPr lang="es-ES" sz="1600" dirty="0">
                <a:solidFill>
                  <a:srgbClr val="0B1F2A"/>
                </a:solidFill>
              </a:rPr>
              <a:t>·  Si cita un documento que no existe, se ve enseguida</a:t>
            </a:r>
            <a:endParaRPr lang="es-ES" sz="1600" noProof="0" dirty="0">
              <a:solidFill>
                <a:srgbClr val="0B1F2A"/>
              </a:solidFill>
              <a:latin typeface="Calibri"/>
            </a:endParaRPr>
          </a:p>
        </p:txBody>
      </p:sp>
      <p:pic>
        <p:nvPicPr>
          <p:cNvPr id="11" name="Irudia 10">
            <a:extLst>
              <a:ext uri="{FF2B5EF4-FFF2-40B4-BE49-F238E27FC236}">
                <a16:creationId xmlns:a16="http://schemas.microsoft.com/office/drawing/2014/main" id="{7586D29B-0BE7-6655-AB48-FD6A327191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1" t="14937" r="845" b="19088"/>
          <a:stretch>
            <a:fillRect/>
          </a:stretch>
        </p:blipFill>
        <p:spPr>
          <a:xfrm>
            <a:off x="1135119" y="4255876"/>
            <a:ext cx="9768314" cy="220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49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23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0B1F2A"/>
                </a:solidFill>
                <a:latin typeface="Calibri Light"/>
              </a:rPr>
              <a:t>¿Y si dos documentos dicen cosas distintas?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5E6A70"/>
                </a:solidFill>
                <a:latin typeface="Calibri"/>
              </a:rPr>
              <a:t>La respuesta que NO vale es que elija uno y no lo mencione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463040" cy="38100"/>
          </a:xfrm>
          <a:prstGeom prst="rect">
            <a:avLst/>
          </a:prstGeom>
          <a:solidFill>
            <a:srgbClr val="BE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454335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dirty="0">
                <a:solidFill>
                  <a:srgbClr val="0B1F2A"/>
                </a:solidFill>
                <a:latin typeface="Calibri"/>
              </a:rPr>
              <a:t>—  </a:t>
            </a:r>
            <a:r>
              <a:rPr lang="ca-ES" sz="1900" b="1" dirty="0">
                <a:solidFill>
                  <a:srgbClr val="0B1F2A"/>
                </a:solidFill>
                <a:latin typeface="Calibri"/>
              </a:rPr>
              <a:t>Detectar el </a:t>
            </a:r>
            <a:r>
              <a:rPr lang="ca-ES" sz="1900" b="1" dirty="0" err="1">
                <a:solidFill>
                  <a:srgbClr val="0B1F2A"/>
                </a:solidFill>
                <a:latin typeface="Calibri"/>
              </a:rPr>
              <a:t>conflicto</a:t>
            </a:r>
            <a:r>
              <a:rPr sz="1900" b="1" dirty="0">
                <a:solidFill>
                  <a:srgbClr val="0B1F2A"/>
                </a:solidFill>
                <a:latin typeface="Calibri"/>
              </a:rPr>
              <a:t>.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  Lo primero y lo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que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más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falla</a:t>
            </a:r>
            <a:r>
              <a:rPr sz="1700" dirty="0">
                <a:solidFill>
                  <a:srgbClr val="5E6A70"/>
                </a:solidFill>
                <a:latin typeface="Calibri"/>
              </a:rPr>
              <a:t>: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muchos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eligen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uno sin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avisar</a:t>
            </a:r>
            <a:r>
              <a:rPr sz="1700" dirty="0">
                <a:solidFill>
                  <a:srgbClr val="5E6A70"/>
                </a:solidFill>
                <a:latin typeface="Calibr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0B1F2A"/>
                </a:solidFill>
                <a:latin typeface="Calibri"/>
              </a:rPr>
              <a:t>—  Mirar</a:t>
            </a:r>
            <a:r>
              <a:rPr lang="ca-ES" sz="1900" b="1" dirty="0">
                <a:solidFill>
                  <a:srgbClr val="0B1F2A"/>
                </a:solidFill>
                <a:latin typeface="Calibri"/>
              </a:rPr>
              <a:t> </a:t>
            </a:r>
            <a:r>
              <a:rPr lang="eu-ES" sz="1900" b="1" dirty="0" err="1">
                <a:solidFill>
                  <a:srgbClr val="0B1F2A"/>
                </a:solidFill>
                <a:latin typeface="Calibri"/>
              </a:rPr>
              <a:t>versión</a:t>
            </a:r>
            <a:r>
              <a:rPr lang="eu-ES" sz="1900" b="1" dirty="0">
                <a:solidFill>
                  <a:srgbClr val="0B1F2A"/>
                </a:solidFill>
                <a:latin typeface="Calibri"/>
              </a:rPr>
              <a:t>, </a:t>
            </a:r>
            <a:r>
              <a:rPr lang="eu-ES" sz="1900" b="1" dirty="0" err="1">
                <a:solidFill>
                  <a:srgbClr val="0B1F2A"/>
                </a:solidFill>
                <a:latin typeface="Calibri"/>
              </a:rPr>
              <a:t>fecha</a:t>
            </a:r>
            <a:r>
              <a:rPr lang="eu-ES" sz="1900" b="1" dirty="0">
                <a:solidFill>
                  <a:srgbClr val="0B1F2A"/>
                </a:solidFill>
                <a:latin typeface="Calibri"/>
              </a:rPr>
              <a:t> y </a:t>
            </a:r>
            <a:r>
              <a:rPr lang="eu-ES" sz="1900" b="1" dirty="0" err="1">
                <a:solidFill>
                  <a:srgbClr val="0B1F2A"/>
                </a:solidFill>
                <a:latin typeface="Calibri"/>
              </a:rPr>
              <a:t>ámbito</a:t>
            </a:r>
            <a:r>
              <a:rPr sz="1900" b="1" dirty="0">
                <a:solidFill>
                  <a:srgbClr val="0B1F2A"/>
                </a:solidFill>
                <a:latin typeface="Calibri"/>
              </a:rPr>
              <a:t>.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  Casi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siempre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está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en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la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portada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del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documento</a:t>
            </a:r>
            <a:r>
              <a:rPr sz="1700" dirty="0">
                <a:solidFill>
                  <a:srgbClr val="5E6A70"/>
                </a:solidFill>
                <a:latin typeface="Calibr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0B1F2A"/>
                </a:solidFill>
                <a:latin typeface="Calibri"/>
              </a:rPr>
              <a:t>—  </a:t>
            </a:r>
            <a:r>
              <a:rPr lang="eu-ES" sz="1900" b="1" dirty="0" err="1">
                <a:solidFill>
                  <a:srgbClr val="0B1F2A"/>
                </a:solidFill>
                <a:latin typeface="Calibri"/>
              </a:rPr>
              <a:t>Determinar</a:t>
            </a:r>
            <a:r>
              <a:rPr lang="eu-ES" sz="1900" b="1" dirty="0">
                <a:solidFill>
                  <a:srgbClr val="0B1F2A"/>
                </a:solidFill>
                <a:latin typeface="Calibri"/>
              </a:rPr>
              <a:t> </a:t>
            </a:r>
            <a:r>
              <a:rPr lang="eu-ES" sz="1900" b="1" dirty="0" err="1">
                <a:solidFill>
                  <a:srgbClr val="0B1F2A"/>
                </a:solidFill>
                <a:latin typeface="Calibri"/>
              </a:rPr>
              <a:t>si</a:t>
            </a:r>
            <a:r>
              <a:rPr lang="eu-ES" sz="1900" b="1" dirty="0">
                <a:solidFill>
                  <a:srgbClr val="0B1F2A"/>
                </a:solidFill>
                <a:latin typeface="Calibri"/>
              </a:rPr>
              <a:t> </a:t>
            </a:r>
            <a:r>
              <a:rPr lang="eu-ES" sz="1900" b="1" dirty="0" err="1">
                <a:solidFill>
                  <a:srgbClr val="0B1F2A"/>
                </a:solidFill>
                <a:latin typeface="Calibri"/>
              </a:rPr>
              <a:t>uno</a:t>
            </a:r>
            <a:r>
              <a:rPr lang="eu-ES" sz="1900" b="1" dirty="0">
                <a:solidFill>
                  <a:srgbClr val="0B1F2A"/>
                </a:solidFill>
                <a:latin typeface="Calibri"/>
              </a:rPr>
              <a:t> es </a:t>
            </a:r>
            <a:r>
              <a:rPr lang="eu-ES" sz="1900" b="1" dirty="0" err="1">
                <a:solidFill>
                  <a:srgbClr val="0B1F2A"/>
                </a:solidFill>
                <a:latin typeface="Calibri"/>
              </a:rPr>
              <a:t>vigente</a:t>
            </a:r>
            <a:r>
              <a:rPr sz="1900" b="1" dirty="0">
                <a:solidFill>
                  <a:srgbClr val="0B1F2A"/>
                </a:solidFill>
                <a:latin typeface="Calibri"/>
              </a:rPr>
              <a:t>.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  Y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decir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cuál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ha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descartado</a:t>
            </a:r>
            <a:r>
              <a:rPr sz="1700" dirty="0">
                <a:solidFill>
                  <a:srgbClr val="5E6A70"/>
                </a:solidFill>
                <a:latin typeface="Calibri"/>
              </a:rPr>
              <a:t>.</a:t>
            </a:r>
            <a:endParaRPr lang="ca-ES" sz="1700" dirty="0">
              <a:solidFill>
                <a:srgbClr val="5E6A70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lang="es-ES" sz="1900" b="1" dirty="0">
                <a:solidFill>
                  <a:srgbClr val="0B1F2A"/>
                </a:solidFill>
              </a:rPr>
              <a:t>—  Explicar qué se descarta.</a:t>
            </a:r>
            <a:r>
              <a:rPr lang="es-ES" sz="1700" dirty="0">
                <a:solidFill>
                  <a:srgbClr val="5E6A70"/>
                </a:solidFill>
              </a:rPr>
              <a:t>  «Hay dos respuestas distintas en las fuentes».</a:t>
            </a:r>
            <a:endParaRPr sz="1700" dirty="0">
              <a:solidFill>
                <a:srgbClr val="5E6A70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0B1F2A"/>
                </a:solidFill>
                <a:latin typeface="Calibri"/>
              </a:rPr>
              <a:t>—  Y </a:t>
            </a:r>
            <a:r>
              <a:rPr sz="1900" b="1" dirty="0" err="1">
                <a:solidFill>
                  <a:srgbClr val="0B1F2A"/>
                </a:solidFill>
                <a:latin typeface="Calibri"/>
              </a:rPr>
              <a:t>si</a:t>
            </a:r>
            <a:r>
              <a:rPr sz="1900" b="1" dirty="0">
                <a:solidFill>
                  <a:srgbClr val="0B1F2A"/>
                </a:solidFill>
                <a:latin typeface="Calibri"/>
              </a:rPr>
              <a:t> no </a:t>
            </a:r>
            <a:r>
              <a:rPr sz="1900" b="1" dirty="0" err="1">
                <a:solidFill>
                  <a:srgbClr val="0B1F2A"/>
                </a:solidFill>
                <a:latin typeface="Calibri"/>
              </a:rPr>
              <a:t>puede</a:t>
            </a:r>
            <a:r>
              <a:rPr sz="1900" b="1" dirty="0">
                <a:solidFill>
                  <a:srgbClr val="0B1F2A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0B1F2A"/>
                </a:solidFill>
                <a:latin typeface="Calibri"/>
              </a:rPr>
              <a:t>resolverlo</a:t>
            </a:r>
            <a:r>
              <a:rPr sz="1900" b="1" dirty="0">
                <a:solidFill>
                  <a:srgbClr val="0B1F2A"/>
                </a:solidFill>
                <a:latin typeface="Calibri"/>
              </a:rPr>
              <a:t>, </a:t>
            </a:r>
            <a:r>
              <a:rPr sz="1900" b="1" dirty="0" err="1">
                <a:solidFill>
                  <a:srgbClr val="0B1F2A"/>
                </a:solidFill>
                <a:latin typeface="Calibri"/>
              </a:rPr>
              <a:t>decirlo</a:t>
            </a:r>
            <a:r>
              <a:rPr sz="1900" b="1" dirty="0">
                <a:solidFill>
                  <a:srgbClr val="0B1F2A"/>
                </a:solidFill>
                <a:latin typeface="Calibri"/>
              </a:rPr>
              <a:t>.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«Hay dos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respuestas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distintas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en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las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fuentes</a:t>
            </a:r>
            <a:r>
              <a:rPr sz="1700" dirty="0">
                <a:solidFill>
                  <a:srgbClr val="5E6A70"/>
                </a:solidFill>
                <a:latin typeface="Calibri"/>
              </a:rPr>
              <a:t>» es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una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respuesta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5E6A70"/>
                </a:solidFill>
                <a:latin typeface="Calibri"/>
              </a:rPr>
              <a:t>correcta</a:t>
            </a:r>
            <a:r>
              <a:rPr sz="1700" dirty="0">
                <a:solidFill>
                  <a:srgbClr val="5E6A7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24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3692" y="1060398"/>
            <a:ext cx="2011680" cy="38100"/>
          </a:xfrm>
          <a:prstGeom prst="rect">
            <a:avLst/>
          </a:prstGeom>
          <a:solidFill>
            <a:srgbClr val="A6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3692" y="1471878"/>
            <a:ext cx="1082116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4000" b="1" noProof="0" dirty="0">
                <a:solidFill>
                  <a:srgbClr val="A6742B"/>
                </a:solidFill>
                <a:latin typeface="Calibri Light"/>
              </a:rPr>
              <a:t>Un asistente útil no es el que contesta a todo. Es el que sabe de dónde sale lo que contesta y cuándo tiene que parar (= límites).</a:t>
            </a:r>
          </a:p>
        </p:txBody>
      </p:sp>
      <p:pic>
        <p:nvPicPr>
          <p:cNvPr id="8" name="Irudia 7">
            <a:extLst>
              <a:ext uri="{FF2B5EF4-FFF2-40B4-BE49-F238E27FC236}">
                <a16:creationId xmlns:a16="http://schemas.microsoft.com/office/drawing/2014/main" id="{75B38D28-C836-4B7B-39AA-9FF4E1290A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350" b="25328"/>
          <a:stretch>
            <a:fillRect/>
          </a:stretch>
        </p:blipFill>
        <p:spPr>
          <a:xfrm>
            <a:off x="484457" y="3817213"/>
            <a:ext cx="11222780" cy="18824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 dirty="0">
                <a:solidFill>
                  <a:srgbClr val="B4BCC0"/>
                </a:solidFill>
                <a:latin typeface="Calibri"/>
              </a:rPr>
              <a:t>S6 · </a:t>
            </a:r>
            <a:r>
              <a:rPr sz="900" dirty="0" err="1">
                <a:solidFill>
                  <a:srgbClr val="B4BCC0"/>
                </a:solidFill>
                <a:latin typeface="Calibri"/>
              </a:rPr>
              <a:t>Asistentes</a:t>
            </a:r>
            <a:r>
              <a:rPr sz="900" dirty="0">
                <a:solidFill>
                  <a:srgbClr val="B4BCC0"/>
                </a:solidFill>
                <a:latin typeface="Calibri"/>
              </a:rPr>
              <a:t>  ·  IA </a:t>
            </a:r>
            <a:r>
              <a:rPr sz="900" dirty="0" err="1">
                <a:solidFill>
                  <a:srgbClr val="B4BCC0"/>
                </a:solidFill>
                <a:latin typeface="Calibri"/>
              </a:rPr>
              <a:t>aplicada</a:t>
            </a:r>
            <a:r>
              <a:rPr sz="900" dirty="0">
                <a:solidFill>
                  <a:srgbClr val="B4BCC0"/>
                </a:solidFill>
                <a:latin typeface="Calibri"/>
              </a:rPr>
              <a:t> a la </a:t>
            </a:r>
            <a:r>
              <a:rPr sz="900" dirty="0" err="1">
                <a:solidFill>
                  <a:srgbClr val="B4BCC0"/>
                </a:solidFill>
                <a:latin typeface="Calibri"/>
              </a:rPr>
              <a:t>Logística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25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5" cy="85664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3600" b="1" noProof="0" dirty="0">
                <a:solidFill>
                  <a:srgbClr val="0B1F2A"/>
                </a:solidFill>
                <a:latin typeface="Calibri Light"/>
              </a:rPr>
              <a:t>Tres respuestas válidas, según lo que haya en las fuentes</a:t>
            </a:r>
          </a:p>
          <a:p>
            <a:pPr algn="l">
              <a:spcAft>
                <a:spcPts val="200"/>
              </a:spcAft>
            </a:pPr>
            <a:r>
              <a:rPr lang="es-ES" sz="1500" b="0" noProof="0" dirty="0">
                <a:solidFill>
                  <a:srgbClr val="5E6A70"/>
                </a:solidFill>
                <a:latin typeface="Calibri"/>
              </a:rPr>
              <a:t>Decir </a:t>
            </a:r>
            <a:r>
              <a:rPr lang="es-ES" sz="1500" b="1" noProof="0" dirty="0">
                <a:solidFill>
                  <a:srgbClr val="5E6A70"/>
                </a:solidFill>
                <a:latin typeface="Calibri"/>
              </a:rPr>
              <a:t>«no lo sé» </a:t>
            </a:r>
            <a:r>
              <a:rPr lang="es-ES" sz="1500" b="0" noProof="0" dirty="0">
                <a:solidFill>
                  <a:srgbClr val="5E6A70"/>
                </a:solidFill>
                <a:latin typeface="Calibri"/>
              </a:rPr>
              <a:t>no es un fallo del asistente: es lo único que lo hace </a:t>
            </a:r>
            <a:r>
              <a:rPr lang="es-ES" sz="1500" b="1" noProof="0" dirty="0">
                <a:solidFill>
                  <a:srgbClr val="5E6A70"/>
                </a:solidFill>
                <a:latin typeface="Calibri"/>
              </a:rPr>
              <a:t>fiable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918094"/>
            <a:ext cx="1463040" cy="38100"/>
          </a:xfrm>
          <a:prstGeom prst="rect">
            <a:avLst/>
          </a:prstGeom>
          <a:solidFill>
            <a:srgbClr val="2A9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447675"/>
              </p:ext>
            </p:extLst>
          </p:nvPr>
        </p:nvGraphicFramePr>
        <p:xfrm>
          <a:off x="868680" y="2324052"/>
          <a:ext cx="10454334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8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82296" marR="82296" anchor="ctr">
                    <a:solidFill>
                      <a:srgbClr val="2A96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Qué hace el asistente</a:t>
                      </a:r>
                    </a:p>
                  </a:txBody>
                  <a:tcPr marL="82296" marR="82296" anchor="ctr">
                    <a:solidFill>
                      <a:srgbClr val="2A96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Cómo lo compruebas</a:t>
                      </a:r>
                    </a:p>
                  </a:txBody>
                  <a:tcPr marL="82296" marR="82296" anchor="ctr">
                    <a:solidFill>
                      <a:srgbClr val="2A96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0B1F2A"/>
                          </a:solidFill>
                          <a:latin typeface="Calibri"/>
                        </a:rPr>
                        <a:t>Está documentado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Responde y dice de dónde lo saca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Se puede abrir el documento y comprobarlo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0B1F2A"/>
                          </a:solidFill>
                          <a:latin typeface="Calibri"/>
                        </a:rPr>
                        <a:t>Puede inferirse en parte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Responde con cautela y separa lo que está escrito de lo que infiere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Lo deducido se marca como inferido, no se cuela como hecho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600" b="1" noProof="0" dirty="0">
                          <a:solidFill>
                            <a:srgbClr val="0B1F2A"/>
                          </a:solidFill>
                          <a:latin typeface="Calibri"/>
                        </a:rPr>
                        <a:t>No está documentado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Lo dice, y remite a la persona o al área que decide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noProof="0" dirty="0">
                          <a:solidFill>
                            <a:srgbClr val="0B1F2A"/>
                          </a:solidFill>
                          <a:latin typeface="Calibri"/>
                        </a:rPr>
                        <a:t>Esto no es un fallo: es </a:t>
                      </a:r>
                      <a:r>
                        <a:rPr lang="es-ES" sz="1600" b="1" u="sng" noProof="0" dirty="0">
                          <a:solidFill>
                            <a:srgbClr val="0B1F2A"/>
                          </a:solidFill>
                          <a:latin typeface="Calibri"/>
                        </a:rPr>
                        <a:t>control de calidad</a:t>
                      </a:r>
                    </a:p>
                  </a:txBody>
                  <a:tcPr marL="82296" marR="82296" anchor="ctr"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stuKoadroa 7">
            <a:extLst>
              <a:ext uri="{FF2B5EF4-FFF2-40B4-BE49-F238E27FC236}">
                <a16:creationId xmlns:a16="http://schemas.microsoft.com/office/drawing/2014/main" id="{56E10F80-E8FC-DC15-C872-EF758AAF33F1}"/>
              </a:ext>
            </a:extLst>
          </p:cNvPr>
          <p:cNvSpPr txBox="1"/>
          <p:nvPr/>
        </p:nvSpPr>
        <p:spPr>
          <a:xfrm>
            <a:off x="868680" y="5825731"/>
            <a:ext cx="278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u-ES" b="1" dirty="0">
                <a:solidFill>
                  <a:schemeClr val="bg1">
                    <a:lumMod val="50000"/>
                  </a:schemeClr>
                </a:solidFill>
              </a:rPr>
              <a:t>S6_tarjeta_jerarquia.pdf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26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5" cy="56938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3400" b="1" noProof="0" dirty="0">
                <a:solidFill>
                  <a:srgbClr val="0B1F2A"/>
                </a:solidFill>
                <a:latin typeface="Calibri Light"/>
              </a:rPr>
              <a:t>Cómo va la segunda mitad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89782"/>
            <a:ext cx="1463040" cy="38100"/>
          </a:xfrm>
          <a:prstGeom prst="rect">
            <a:avLst/>
          </a:prstGeom>
          <a:solidFill>
            <a:srgbClr val="E9C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6094"/>
            <a:ext cx="10454335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dirty="0">
                <a:solidFill>
                  <a:srgbClr val="0B1F2A"/>
                </a:solidFill>
                <a:latin typeface="Calibri"/>
              </a:rPr>
              <a:t>—  A11 · </a:t>
            </a:r>
            <a:r>
              <a:rPr lang="en-US" sz="1900" b="1" dirty="0" err="1">
                <a:solidFill>
                  <a:srgbClr val="0B1F2A"/>
                </a:solidFill>
                <a:latin typeface="Calibri"/>
              </a:rPr>
              <a:t>gobernar</a:t>
            </a:r>
            <a:r>
              <a:rPr lang="en-US" sz="1900" b="1" dirty="0">
                <a:solidFill>
                  <a:srgbClr val="0B1F2A"/>
                </a:solidFill>
                <a:latin typeface="Calibri"/>
              </a:rPr>
              <a:t> un </a:t>
            </a:r>
            <a:r>
              <a:rPr lang="en-US" sz="1900" b="1" dirty="0" err="1">
                <a:solidFill>
                  <a:srgbClr val="0B1F2A"/>
                </a:solidFill>
                <a:latin typeface="Calibri"/>
              </a:rPr>
              <a:t>asistente</a:t>
            </a:r>
            <a:r>
              <a:rPr lang="ca-ES" sz="1900" b="1" dirty="0">
                <a:solidFill>
                  <a:srgbClr val="0B1F2A"/>
                </a:solidFill>
                <a:latin typeface="Calibri"/>
              </a:rPr>
              <a:t>:</a:t>
            </a:r>
            <a:r>
              <a:rPr sz="1700" dirty="0">
                <a:solidFill>
                  <a:srgbClr val="5E6A70"/>
                </a:solidFill>
                <a:latin typeface="Calibri"/>
              </a:rPr>
              <a:t> </a:t>
            </a:r>
            <a:endParaRPr lang="ca-ES" sz="1700" dirty="0">
              <a:solidFill>
                <a:srgbClr val="5E6A70"/>
              </a:solidFill>
              <a:latin typeface="Calibri"/>
            </a:endParaRPr>
          </a:p>
          <a:p>
            <a:pPr lvl="1">
              <a:spcAft>
                <a:spcPts val="1400"/>
              </a:spcAft>
            </a:pPr>
            <a:r>
              <a:rPr lang="es-ES" sz="1700" dirty="0">
                <a:solidFill>
                  <a:srgbClr val="5E6A70"/>
                </a:solidFill>
                <a:latin typeface="Calibri"/>
              </a:rPr>
              <a:t>—  Elegir qué fuentes entran y clasificarlas.</a:t>
            </a:r>
          </a:p>
          <a:p>
            <a:pPr lvl="1">
              <a:spcAft>
                <a:spcPts val="1400"/>
              </a:spcAft>
            </a:pPr>
            <a:r>
              <a:rPr lang="es-ES" sz="1700" dirty="0">
                <a:solidFill>
                  <a:srgbClr val="5E6A70"/>
                </a:solidFill>
                <a:latin typeface="Calibri"/>
              </a:rPr>
              <a:t>—  Preguntar sin jerarquía y ver qué mezcla.</a:t>
            </a:r>
          </a:p>
          <a:p>
            <a:pPr lvl="1">
              <a:spcAft>
                <a:spcPts val="1400"/>
              </a:spcAft>
            </a:pPr>
            <a:r>
              <a:rPr lang="es-ES" sz="1700" dirty="0">
                <a:solidFill>
                  <a:srgbClr val="5E6A70"/>
                </a:solidFill>
                <a:latin typeface="Calibri"/>
              </a:rPr>
              <a:t>—  Añadir jerarquía + regla de conflicto.</a:t>
            </a:r>
          </a:p>
          <a:p>
            <a:pPr lvl="1">
              <a:spcAft>
                <a:spcPts val="1400"/>
              </a:spcAft>
            </a:pPr>
            <a:r>
              <a:rPr lang="es-ES" sz="1700" dirty="0">
                <a:solidFill>
                  <a:srgbClr val="5E6A70"/>
                </a:solidFill>
                <a:latin typeface="Calibri"/>
              </a:rPr>
              <a:t>—  Probar qué pasa cuando aparece otra versión.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0B1F2A"/>
                </a:solidFill>
                <a:latin typeface="Calibri"/>
              </a:rPr>
              <a:t>—  A12 · </a:t>
            </a:r>
            <a:r>
              <a:rPr lang="en-US" sz="1900" b="1" dirty="0">
                <a:solidFill>
                  <a:srgbClr val="0B1F2A"/>
                </a:solidFill>
                <a:latin typeface="Calibri"/>
              </a:rPr>
              <a:t>un corpus, </a:t>
            </a:r>
            <a:r>
              <a:rPr lang="en-US" sz="1900" b="1" dirty="0" err="1">
                <a:solidFill>
                  <a:srgbClr val="0B1F2A"/>
                </a:solidFill>
                <a:latin typeface="Calibri"/>
              </a:rPr>
              <a:t>muchos</a:t>
            </a:r>
            <a:r>
              <a:rPr lang="en-US" sz="1900" b="1" dirty="0">
                <a:solidFill>
                  <a:srgbClr val="0B1F2A"/>
                </a:solidFill>
                <a:latin typeface="Calibri"/>
              </a:rPr>
              <a:t> </a:t>
            </a:r>
            <a:r>
              <a:rPr lang="en-US" sz="1900" b="1" dirty="0" err="1">
                <a:solidFill>
                  <a:srgbClr val="0B1F2A"/>
                </a:solidFill>
                <a:latin typeface="Calibri"/>
              </a:rPr>
              <a:t>productos</a:t>
            </a:r>
            <a:r>
              <a:rPr lang="en-US" sz="1900" b="1" dirty="0">
                <a:solidFill>
                  <a:srgbClr val="0B1F2A"/>
                </a:solidFill>
                <a:latin typeface="Calibri"/>
              </a:rPr>
              <a:t>:</a:t>
            </a:r>
          </a:p>
          <a:p>
            <a:pPr lvl="1">
              <a:spcAft>
                <a:spcPts val="1400"/>
              </a:spcAft>
            </a:pPr>
            <a:r>
              <a:rPr lang="es-ES" sz="1700" dirty="0">
                <a:solidFill>
                  <a:srgbClr val="5E6A70"/>
                </a:solidFill>
                <a:latin typeface="Calibri"/>
              </a:rPr>
              <a:t>—  Elegir un usuario y una tarea concreta.</a:t>
            </a:r>
          </a:p>
          <a:p>
            <a:pPr lvl="1">
              <a:spcAft>
                <a:spcPts val="1400"/>
              </a:spcAft>
            </a:pPr>
            <a:r>
              <a:rPr lang="es-ES" sz="1700" dirty="0">
                <a:solidFill>
                  <a:srgbClr val="5E6A70"/>
                </a:solidFill>
                <a:latin typeface="Calibri"/>
              </a:rPr>
              <a:t>—  Crear tabla / informe / material de uso.</a:t>
            </a:r>
          </a:p>
          <a:p>
            <a:pPr lvl="1">
              <a:spcAft>
                <a:spcPts val="1400"/>
              </a:spcAft>
            </a:pPr>
            <a:r>
              <a:rPr lang="es-ES" sz="1700" dirty="0">
                <a:solidFill>
                  <a:srgbClr val="5E6A70"/>
                </a:solidFill>
                <a:latin typeface="Calibri"/>
              </a:rPr>
              <a:t>—  Auditar cinco afirmaciones o filas.</a:t>
            </a:r>
          </a:p>
          <a:p>
            <a:pPr lvl="1">
              <a:spcAft>
                <a:spcPts val="1400"/>
              </a:spcAft>
            </a:pPr>
            <a:r>
              <a:rPr lang="es-ES" sz="1700" dirty="0">
                <a:solidFill>
                  <a:srgbClr val="5E6A70"/>
                </a:solidFill>
                <a:latin typeface="Calibri"/>
              </a:rPr>
              <a:t>—  Ajustar fuentes e instrucciones antes de compartir.</a:t>
            </a:r>
          </a:p>
        </p:txBody>
      </p:sp>
      <p:sp>
        <p:nvSpPr>
          <p:cNvPr id="9" name="TestuKoadroa 8">
            <a:extLst>
              <a:ext uri="{FF2B5EF4-FFF2-40B4-BE49-F238E27FC236}">
                <a16:creationId xmlns:a16="http://schemas.microsoft.com/office/drawing/2014/main" id="{5A9787B4-10DD-5160-03DA-DFC307116656}"/>
              </a:ext>
            </a:extLst>
          </p:cNvPr>
          <p:cNvSpPr txBox="1"/>
          <p:nvPr/>
        </p:nvSpPr>
        <p:spPr>
          <a:xfrm>
            <a:off x="795988" y="1250734"/>
            <a:ext cx="894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Dos pruebas: gobernar conocimiento y convertirlo en productos útiles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651760"/>
            <a:ext cx="104543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164F46"/>
                </a:solidFill>
                <a:latin typeface="Calibri Light"/>
              </a:rPr>
              <a:t>Descanso</a:t>
            </a:r>
            <a:endParaRPr sz="5400" b="1" dirty="0">
              <a:solidFill>
                <a:srgbClr val="164F4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28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5" cy="14927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ca-ES" sz="3400" b="1" dirty="0">
                <a:solidFill>
                  <a:srgbClr val="0B1F2A"/>
                </a:solidFill>
                <a:latin typeface="Calibri Light"/>
              </a:rPr>
              <a:t>A11 · </a:t>
            </a:r>
            <a:r>
              <a:rPr sz="3400" b="1" dirty="0">
                <a:solidFill>
                  <a:srgbClr val="0B1F2A"/>
                </a:solidFill>
                <a:latin typeface="Calibri Light"/>
              </a:rPr>
              <a:t>Cinco </a:t>
            </a:r>
            <a:r>
              <a:rPr sz="3400" b="1" dirty="0" err="1">
                <a:solidFill>
                  <a:srgbClr val="0B1F2A"/>
                </a:solidFill>
                <a:latin typeface="Calibri Light"/>
              </a:rPr>
              <a:t>documentos</a:t>
            </a:r>
            <a:r>
              <a:rPr sz="3400" b="1" dirty="0">
                <a:solidFill>
                  <a:srgbClr val="0B1F2A"/>
                </a:solidFill>
                <a:latin typeface="Calibri Light"/>
              </a:rPr>
              <a:t> y </a:t>
            </a:r>
            <a:r>
              <a:rPr sz="3400" b="1" dirty="0" err="1">
                <a:solidFill>
                  <a:srgbClr val="0B1F2A"/>
                </a:solidFill>
                <a:latin typeface="Calibri Light"/>
              </a:rPr>
              <a:t>una</a:t>
            </a:r>
            <a:r>
              <a:rPr sz="3400" b="1" dirty="0">
                <a:solidFill>
                  <a:srgbClr val="0B1F2A"/>
                </a:solidFill>
                <a:latin typeface="Calibri Light"/>
              </a:rPr>
              <a:t> </a:t>
            </a:r>
            <a:r>
              <a:rPr sz="3400" b="1" dirty="0" err="1">
                <a:solidFill>
                  <a:srgbClr val="0B1F2A"/>
                </a:solidFill>
                <a:latin typeface="Calibri Light"/>
              </a:rPr>
              <a:t>semana</a:t>
            </a:r>
            <a:r>
              <a:rPr sz="3400" b="1" dirty="0">
                <a:solidFill>
                  <a:srgbClr val="0B1F2A"/>
                </a:solidFill>
                <a:latin typeface="Calibri Light"/>
              </a:rPr>
              <a:t> de </a:t>
            </a:r>
            <a:r>
              <a:rPr sz="3400" b="1" dirty="0" err="1">
                <a:solidFill>
                  <a:srgbClr val="0B1F2A"/>
                </a:solidFill>
                <a:latin typeface="Calibri Light"/>
              </a:rPr>
              <a:t>preguntas</a:t>
            </a:r>
            <a:endParaRPr sz="3400" b="1" dirty="0">
              <a:solidFill>
                <a:srgbClr val="0B1F2A"/>
              </a:solidFill>
              <a:latin typeface="Calibri Light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 dirty="0">
                <a:solidFill>
                  <a:srgbClr val="5E6A70"/>
                </a:solidFill>
                <a:latin typeface="Calibri"/>
              </a:rPr>
              <a:t>El </a:t>
            </a:r>
            <a:r>
              <a:rPr sz="1500" b="0" dirty="0" err="1">
                <a:solidFill>
                  <a:srgbClr val="5E6A70"/>
                </a:solidFill>
                <a:latin typeface="Calibri"/>
              </a:rPr>
              <a:t>conocimiento</a:t>
            </a:r>
            <a:r>
              <a:rPr sz="1500" b="0" dirty="0">
                <a:solidFill>
                  <a:srgbClr val="5E6A7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5E6A70"/>
                </a:solidFill>
                <a:latin typeface="Calibri"/>
              </a:rPr>
              <a:t>escrito</a:t>
            </a:r>
            <a:r>
              <a:rPr sz="1500" b="0" dirty="0">
                <a:solidFill>
                  <a:srgbClr val="5E6A70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5E6A70"/>
                </a:solidFill>
                <a:latin typeface="Calibri"/>
              </a:rPr>
              <a:t>Garaia</a:t>
            </a:r>
            <a:endParaRPr lang="ca-ES" sz="1500" b="0" dirty="0">
              <a:solidFill>
                <a:srgbClr val="5E6A70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500" b="0" dirty="0">
                <a:solidFill>
                  <a:srgbClr val="5E6A70"/>
                </a:solidFill>
                <a:latin typeface="Calibri"/>
              </a:rPr>
              <a:t>Para A11 trabajamos solo con estas fuentes. No con todo el cuaderno.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endParaRPr sz="1500" b="0" dirty="0">
              <a:solidFill>
                <a:srgbClr val="5E6A7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1972260"/>
            <a:ext cx="1463040" cy="38100"/>
          </a:xfrm>
          <a:prstGeom prst="rect">
            <a:avLst/>
          </a:prstGeom>
          <a:solidFill>
            <a:srgbClr val="5E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271808"/>
            <a:ext cx="4206240" cy="384048"/>
          </a:xfrm>
          <a:prstGeom prst="rect">
            <a:avLst/>
          </a:prstGeom>
          <a:solidFill>
            <a:srgbClr val="2E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DOCUMENTO</a:t>
            </a:r>
            <a:r>
              <a:rPr lang="ca-ES" sz="1200" b="1" dirty="0">
                <a:solidFill>
                  <a:srgbClr val="FFFFFF"/>
                </a:solidFill>
                <a:latin typeface="Calibri"/>
              </a:rPr>
              <a:t>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DE GARAIA LOGISTIKA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807" y="2820448"/>
            <a:ext cx="4803753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manual_almacen.pdf procedimiento_incidencias.pdf condiciones_transporte_clientes.pdf politica_devoluciones.pdf historico_incidencias_resueltas.xlsx</a:t>
            </a:r>
            <a:r>
              <a:rPr lang="ca-ES" sz="1700" b="1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→ </a:t>
            </a:r>
            <a:r>
              <a:rPr lang="ca-ES" sz="1700" b="1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csv</a:t>
            </a:r>
            <a:endParaRPr lang="ca-ES" sz="1700" b="1" dirty="0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2</a:t>
            </a:r>
            <a:r>
              <a:rPr sz="900" dirty="0">
                <a:solidFill>
                  <a:srgbClr val="B4BCC0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C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10454335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A6742B"/>
                </a:solidFill>
                <a:latin typeface="Calibri"/>
              </a:rPr>
              <a:t>ACTIVIDAD A11  ·  </a:t>
            </a:r>
            <a:r>
              <a:rPr lang="ca-ES" sz="1400" b="1" dirty="0">
                <a:solidFill>
                  <a:srgbClr val="A6742B"/>
                </a:solidFill>
                <a:latin typeface="Calibri"/>
              </a:rPr>
              <a:t>5</a:t>
            </a:r>
            <a:r>
              <a:rPr sz="1400" b="1" dirty="0">
                <a:solidFill>
                  <a:srgbClr val="A6742B"/>
                </a:solidFill>
                <a:latin typeface="Calibri"/>
              </a:rPr>
              <a:t>0 MINUTOS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ca-ES" sz="3600" b="1" dirty="0">
                <a:solidFill>
                  <a:srgbClr val="0B1F2A"/>
                </a:solidFill>
                <a:latin typeface="Calibri Light"/>
              </a:rPr>
              <a:t>A11 · </a:t>
            </a:r>
            <a:r>
              <a:rPr lang="es-ES" sz="3600" b="1" dirty="0">
                <a:solidFill>
                  <a:srgbClr val="0B1F2A"/>
                </a:solidFill>
                <a:latin typeface="Calibri Light"/>
              </a:rPr>
              <a:t>«La misma pregunta, tres verdades»</a:t>
            </a:r>
            <a:endParaRPr sz="3600" b="1" dirty="0">
              <a:solidFill>
                <a:srgbClr val="0B1F2A"/>
              </a:solidFill>
              <a:latin typeface="Calibri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973701"/>
            <a:ext cx="2011680" cy="38100"/>
          </a:xfrm>
          <a:prstGeom prst="rect">
            <a:avLst/>
          </a:prstGeom>
          <a:solidFill>
            <a:srgbClr val="E9C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83898"/>
            <a:ext cx="1063803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2100" b="0" noProof="0" dirty="0">
                <a:solidFill>
                  <a:srgbClr val="0B1F2A"/>
                </a:solidFill>
                <a:latin typeface="Calibri"/>
              </a:rPr>
              <a:t>Probamos si cambia la respuesta cuando el asistente sabe qué fuente manda.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A5C48EA-CF7A-2025-4772-370F517CFE34}"/>
              </a:ext>
            </a:extLst>
          </p:cNvPr>
          <p:cNvSpPr/>
          <p:nvPr/>
        </p:nvSpPr>
        <p:spPr>
          <a:xfrm>
            <a:off x="914399" y="2764379"/>
            <a:ext cx="2105751" cy="441963"/>
          </a:xfrm>
          <a:prstGeom prst="roundRect">
            <a:avLst>
              <a:gd name="adj" fmla="val 16667"/>
            </a:avLst>
          </a:prstGeom>
          <a:solidFill>
            <a:srgbClr val="F0D7DC"/>
          </a:solidFill>
          <a:ln w="12600">
            <a:solidFill>
              <a:srgbClr val="9B344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32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30A4D3F-1736-4D76-97D8-1C5C20DA29D3}"/>
              </a:ext>
            </a:extLst>
          </p:cNvPr>
          <p:cNvSpPr/>
          <p:nvPr/>
        </p:nvSpPr>
        <p:spPr>
          <a:xfrm>
            <a:off x="987480" y="2912999"/>
            <a:ext cx="1937424" cy="1471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 noProof="0" dirty="0">
                <a:solidFill>
                  <a:srgbClr val="0B2330"/>
                </a:solidFill>
                <a:effectLst/>
                <a:uFillTx/>
                <a:ea typeface="Aptos"/>
              </a:rPr>
              <a:t>1 · Normativo</a:t>
            </a:r>
            <a:endParaRPr lang="es-ES" sz="16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BD5B8E31-752C-309D-1FF0-5174C5B2D9A4}"/>
              </a:ext>
            </a:extLst>
          </p:cNvPr>
          <p:cNvSpPr/>
          <p:nvPr/>
        </p:nvSpPr>
        <p:spPr>
          <a:xfrm>
            <a:off x="3508263" y="2764379"/>
            <a:ext cx="2105751" cy="441963"/>
          </a:xfrm>
          <a:prstGeom prst="roundRect">
            <a:avLst>
              <a:gd name="adj" fmla="val 16667"/>
            </a:avLst>
          </a:prstGeom>
          <a:solidFill>
            <a:srgbClr val="FFF3CF"/>
          </a:solidFill>
          <a:ln w="12600">
            <a:solidFill>
              <a:srgbClr val="A97724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32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41A82F5-4173-4107-A9B2-F9DCF26D7DC6}"/>
              </a:ext>
            </a:extLst>
          </p:cNvPr>
          <p:cNvSpPr/>
          <p:nvPr/>
        </p:nvSpPr>
        <p:spPr>
          <a:xfrm>
            <a:off x="3568190" y="2912999"/>
            <a:ext cx="1937424" cy="1471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 noProof="0" dirty="0">
                <a:solidFill>
                  <a:srgbClr val="0B2330"/>
                </a:solidFill>
                <a:effectLst/>
                <a:uFillTx/>
                <a:ea typeface="Aptos"/>
              </a:rPr>
              <a:t>2 · Operativo</a:t>
            </a:r>
            <a:endParaRPr lang="es-ES" sz="16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05DF6DE8-279F-11E8-374C-8A8E1886105B}"/>
              </a:ext>
            </a:extLst>
          </p:cNvPr>
          <p:cNvSpPr/>
          <p:nvPr/>
        </p:nvSpPr>
        <p:spPr>
          <a:xfrm>
            <a:off x="6099060" y="2764379"/>
            <a:ext cx="2105751" cy="441963"/>
          </a:xfrm>
          <a:prstGeom prst="roundRect">
            <a:avLst>
              <a:gd name="adj" fmla="val 16667"/>
            </a:avLst>
          </a:prstGeom>
          <a:solidFill>
            <a:srgbClr val="BEECE5"/>
          </a:solidFill>
          <a:ln w="12600">
            <a:solidFill>
              <a:srgbClr val="2D8F7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32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DF5C970-8190-8DFD-B1E9-C8250153AE3F}"/>
              </a:ext>
            </a:extLst>
          </p:cNvPr>
          <p:cNvSpPr/>
          <p:nvPr/>
        </p:nvSpPr>
        <p:spPr>
          <a:xfrm>
            <a:off x="6172139" y="2912999"/>
            <a:ext cx="1937424" cy="1471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 noProof="0" dirty="0">
                <a:solidFill>
                  <a:srgbClr val="0B2330"/>
                </a:solidFill>
                <a:effectLst/>
                <a:uFillTx/>
                <a:ea typeface="Aptos"/>
              </a:rPr>
              <a:t>3 · Histórico</a:t>
            </a:r>
            <a:endParaRPr lang="es-ES" sz="16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025A2237-346E-6C7C-7924-CF155D653820}"/>
              </a:ext>
            </a:extLst>
          </p:cNvPr>
          <p:cNvSpPr/>
          <p:nvPr/>
        </p:nvSpPr>
        <p:spPr>
          <a:xfrm>
            <a:off x="8696628" y="2764379"/>
            <a:ext cx="2105751" cy="441963"/>
          </a:xfrm>
          <a:prstGeom prst="roundRect">
            <a:avLst>
              <a:gd name="adj" fmla="val 16667"/>
            </a:avLst>
          </a:prstGeom>
          <a:solidFill>
            <a:srgbClr val="F3F4F2"/>
          </a:solidFill>
          <a:ln w="12600">
            <a:solidFill>
              <a:srgbClr val="C7CFCC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32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1F720AB8-E194-E0FD-368C-9271C351CE8E}"/>
              </a:ext>
            </a:extLst>
          </p:cNvPr>
          <p:cNvSpPr/>
          <p:nvPr/>
        </p:nvSpPr>
        <p:spPr>
          <a:xfrm>
            <a:off x="8756551" y="2912999"/>
            <a:ext cx="1937424" cy="1471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 noProof="0" dirty="0">
                <a:solidFill>
                  <a:srgbClr val="0B2330"/>
                </a:solidFill>
                <a:effectLst/>
                <a:uFillTx/>
                <a:ea typeface="Aptos"/>
              </a:rPr>
              <a:t>Respuesta</a:t>
            </a:r>
            <a:endParaRPr lang="es-ES" sz="16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graphicFrame>
        <p:nvGraphicFramePr>
          <p:cNvPr id="27" name="Taula 26">
            <a:extLst>
              <a:ext uri="{FF2B5EF4-FFF2-40B4-BE49-F238E27FC236}">
                <a16:creationId xmlns:a16="http://schemas.microsoft.com/office/drawing/2014/main" id="{92B1B206-89C4-EEB1-D0FF-C0FDB0419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10930"/>
              </p:ext>
            </p:extLst>
          </p:nvPr>
        </p:nvGraphicFramePr>
        <p:xfrm>
          <a:off x="914400" y="3707992"/>
          <a:ext cx="10286640" cy="201935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374889">
                  <a:extLst>
                    <a:ext uri="{9D8B030D-6E8A-4147-A177-3AD203B41FA5}">
                      <a16:colId xmlns:a16="http://schemas.microsoft.com/office/drawing/2014/main" val="319049502"/>
                    </a:ext>
                  </a:extLst>
                </a:gridCol>
                <a:gridCol w="5927154">
                  <a:extLst>
                    <a:ext uri="{9D8B030D-6E8A-4147-A177-3AD203B41FA5}">
                      <a16:colId xmlns:a16="http://schemas.microsoft.com/office/drawing/2014/main" val="1624747093"/>
                    </a:ext>
                  </a:extLst>
                </a:gridCol>
                <a:gridCol w="2984597">
                  <a:extLst>
                    <a:ext uri="{9D8B030D-6E8A-4147-A177-3AD203B41FA5}">
                      <a16:colId xmlns:a16="http://schemas.microsoft.com/office/drawing/2014/main" val="3713066899"/>
                    </a:ext>
                  </a:extLst>
                </a:gridCol>
              </a:tblGrid>
              <a:tr h="735005">
                <a:tc>
                  <a:txBody>
                    <a:bodyPr/>
                    <a:lstStyle/>
                    <a:p>
                      <a:r>
                        <a:rPr lang="es-ES" noProof="0" dirty="0"/>
                        <a:t>Normativo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noProof="0" dirty="0"/>
                        <a:t>politica_devoluciones.pdf, condiciones_transporte_clientes.pdf, procedimiento_incidencias.pdf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noProof="0" dirty="0"/>
                        <a:t>Qué se debe hacer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488743"/>
                  </a:ext>
                </a:extLst>
              </a:tr>
              <a:tr h="71279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800" b="1" kern="1200" noProof="0" dirty="0">
                          <a:solidFill>
                            <a:schemeClr val="tx1"/>
                          </a:solidFill>
                        </a:rPr>
                        <a:t>Operativo</a:t>
                      </a:r>
                      <a:endParaRPr lang="es-ES" sz="18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noProof="0" dirty="0"/>
                        <a:t>manual_almacen.pdf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noProof="0" dirty="0"/>
                        <a:t>Cómo se ejecuta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860083"/>
                  </a:ext>
                </a:extLst>
              </a:tr>
              <a:tr h="571556">
                <a:tc>
                  <a:txBody>
                    <a:bodyPr/>
                    <a:lstStyle/>
                    <a:p>
                      <a:r>
                        <a:rPr lang="es-ES" b="1" noProof="0" dirty="0"/>
                        <a:t>Histórico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noProof="0" dirty="0"/>
                        <a:t>historico_incidencias_resueltas.xlsx → </a:t>
                      </a:r>
                      <a:r>
                        <a:rPr lang="es-ES" sz="1600" noProof="0" dirty="0" err="1"/>
                        <a:t>csv</a:t>
                      </a:r>
                      <a:endParaRPr lang="es-E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noProof="0" dirty="0"/>
                        <a:t>Qué ocurrió 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757284"/>
                  </a:ext>
                </a:extLst>
              </a:tr>
            </a:tbl>
          </a:graphicData>
        </a:graphic>
      </p:graphicFrame>
      <p:sp>
        <p:nvSpPr>
          <p:cNvPr id="29" name="TestuKoadroa 28">
            <a:extLst>
              <a:ext uri="{FF2B5EF4-FFF2-40B4-BE49-F238E27FC236}">
                <a16:creationId xmlns:a16="http://schemas.microsoft.com/office/drawing/2014/main" id="{68C9AEA2-11AD-402C-4657-29C1EC892091}"/>
              </a:ext>
            </a:extLst>
          </p:cNvPr>
          <p:cNvSpPr txBox="1"/>
          <p:nvPr/>
        </p:nvSpPr>
        <p:spPr>
          <a:xfrm>
            <a:off x="868679" y="5979234"/>
            <a:ext cx="10578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>
                <a:solidFill>
                  <a:schemeClr val="bg1">
                    <a:lumMod val="50000"/>
                  </a:schemeClr>
                </a:solidFill>
              </a:rPr>
              <a:t>Jerarquia_fuentes_garaia_notebooklm.txt · A11_ampliación_versiones.docx · S6_tarjeta_jerarquia.pdf</a:t>
            </a:r>
          </a:p>
          <a:p>
            <a:r>
              <a:rPr lang="es-ES" b="1" noProof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79985A4E-E27A-D4D2-BDF8-00CB9B6E87C0}"/>
              </a:ext>
            </a:extLst>
          </p:cNvPr>
          <p:cNvSpPr/>
          <p:nvPr/>
        </p:nvSpPr>
        <p:spPr>
          <a:xfrm>
            <a:off x="5615828" y="3014407"/>
            <a:ext cx="463108" cy="415"/>
          </a:xfrm>
          <a:prstGeom prst="line">
            <a:avLst/>
          </a:prstGeom>
          <a:ln w="28080">
            <a:solidFill>
              <a:srgbClr val="A9772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32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BE4C68F8-7A20-E1AE-DED6-A3AA38CBC22B}"/>
              </a:ext>
            </a:extLst>
          </p:cNvPr>
          <p:cNvSpPr/>
          <p:nvPr/>
        </p:nvSpPr>
        <p:spPr>
          <a:xfrm>
            <a:off x="8207014" y="3014407"/>
            <a:ext cx="463108" cy="415"/>
          </a:xfrm>
          <a:prstGeom prst="line">
            <a:avLst/>
          </a:prstGeom>
          <a:ln w="28080">
            <a:solidFill>
              <a:srgbClr val="A9772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32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A79170A9-5099-4A89-4BF2-C4E25387364B}"/>
              </a:ext>
            </a:extLst>
          </p:cNvPr>
          <p:cNvSpPr/>
          <p:nvPr/>
        </p:nvSpPr>
        <p:spPr>
          <a:xfrm>
            <a:off x="3027175" y="3014407"/>
            <a:ext cx="463108" cy="415"/>
          </a:xfrm>
          <a:prstGeom prst="line">
            <a:avLst/>
          </a:prstGeom>
          <a:ln w="28080">
            <a:solidFill>
              <a:srgbClr val="A9772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32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D8543-0891-9115-F940-8689F44F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ACD8E7-13BC-8BAD-5E3D-66F001312F13}"/>
              </a:ext>
            </a:extLst>
          </p:cNvPr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571A45-9EB1-FBA6-0BAA-B0524646B653}"/>
              </a:ext>
            </a:extLst>
          </p:cNvPr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30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5F2FD-5929-679F-0781-C1290507ABFE}"/>
              </a:ext>
            </a:extLst>
          </p:cNvPr>
          <p:cNvSpPr txBox="1"/>
          <p:nvPr/>
        </p:nvSpPr>
        <p:spPr>
          <a:xfrm>
            <a:off x="868680" y="685800"/>
            <a:ext cx="10454335" cy="66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4000" b="1" noProof="0" dirty="0">
                <a:solidFill>
                  <a:srgbClr val="0B1F2A"/>
                </a:solidFill>
                <a:latin typeface="Calibri Light"/>
              </a:rPr>
              <a:t>Ponemos en común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BE658B-54E0-58B1-0154-F842068EF49A}"/>
              </a:ext>
            </a:extLst>
          </p:cNvPr>
          <p:cNvSpPr/>
          <p:nvPr/>
        </p:nvSpPr>
        <p:spPr>
          <a:xfrm>
            <a:off x="868680" y="1539681"/>
            <a:ext cx="1463040" cy="38100"/>
          </a:xfrm>
          <a:prstGeom prst="rect">
            <a:avLst/>
          </a:prstGeom>
          <a:solidFill>
            <a:srgbClr val="E9C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6DE54-7201-8653-CBBC-03127410A8DC}"/>
              </a:ext>
            </a:extLst>
          </p:cNvPr>
          <p:cNvSpPr txBox="1"/>
          <p:nvPr/>
        </p:nvSpPr>
        <p:spPr>
          <a:xfrm>
            <a:off x="868680" y="2057400"/>
            <a:ext cx="10454335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"/>
              </a:rPr>
              <a:t>—  ¿Qué respuesta cambió al introducir jerarquía?</a:t>
            </a:r>
          </a:p>
          <a:p>
            <a:pPr>
              <a:spcAft>
                <a:spcPts val="140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"/>
              </a:rPr>
              <a:t>—  ¿Dónde intentó convertir histórico en norma?</a:t>
            </a:r>
          </a:p>
          <a:p>
            <a:pPr>
              <a:spcAft>
                <a:spcPts val="140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"/>
              </a:rPr>
              <a:t>—  ¿Detectó el conflicto de versiones o eligió una sin avisar?</a:t>
            </a:r>
          </a:p>
          <a:p>
            <a:pPr>
              <a:spcAft>
                <a:spcPts val="140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"/>
              </a:rPr>
              <a:t>—  ¿Qué frase concreta de la instrucción fue decisiva?</a:t>
            </a:r>
          </a:p>
        </p:txBody>
      </p:sp>
    </p:spTree>
    <p:extLst>
      <p:ext uri="{BB962C8B-B14F-4D97-AF65-F5344CB8AC3E}">
        <p14:creationId xmlns:p14="http://schemas.microsoft.com/office/powerpoint/2010/main" val="364219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31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5" cy="90794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ca-ES" sz="3400" b="1" dirty="0">
                <a:solidFill>
                  <a:srgbClr val="0B1F2A"/>
                </a:solidFill>
                <a:latin typeface="Calibri Light"/>
              </a:rPr>
              <a:t>A12 · </a:t>
            </a:r>
            <a:r>
              <a:rPr lang="en-US" sz="3600" dirty="0">
                <a:solidFill>
                  <a:srgbClr val="0B2330"/>
                </a:solidFill>
                <a:latin typeface="Aptos Display"/>
                <a:ea typeface="Aptos Display"/>
              </a:rPr>
              <a:t>Un corpus, </a:t>
            </a:r>
            <a:r>
              <a:rPr lang="en-US" sz="3600" dirty="0" err="1">
                <a:solidFill>
                  <a:srgbClr val="0B2330"/>
                </a:solidFill>
                <a:latin typeface="Aptos Display"/>
                <a:ea typeface="Aptos Display"/>
              </a:rPr>
              <a:t>muchos</a:t>
            </a:r>
            <a:r>
              <a:rPr lang="en-US" sz="3600" dirty="0">
                <a:solidFill>
                  <a:srgbClr val="0B2330"/>
                </a:solidFill>
                <a:latin typeface="Aptos Display"/>
                <a:ea typeface="Aptos Display"/>
              </a:rPr>
              <a:t> </a:t>
            </a:r>
            <a:r>
              <a:rPr lang="en-US" sz="3600" dirty="0" err="1">
                <a:solidFill>
                  <a:srgbClr val="0B2330"/>
                </a:solidFill>
                <a:latin typeface="Aptos Display"/>
                <a:ea typeface="Aptos Display"/>
              </a:rPr>
              <a:t>productos</a:t>
            </a:r>
            <a:endParaRPr sz="3400" b="1" dirty="0">
              <a:solidFill>
                <a:srgbClr val="0B1F2A"/>
              </a:solidFill>
              <a:latin typeface="Calibri Light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lang="es-ES" sz="1500" b="0" dirty="0">
                <a:solidFill>
                  <a:srgbClr val="5E6A70"/>
                </a:solidFill>
                <a:latin typeface="Calibri"/>
              </a:rPr>
              <a:t>El valor no es solo responder: es transformar conocimiento según el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463040" cy="38100"/>
          </a:xfrm>
          <a:prstGeom prst="rect">
            <a:avLst/>
          </a:prstGeom>
          <a:solidFill>
            <a:srgbClr val="5E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6026993"/>
            <a:ext cx="47548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u-ES" sz="1700" b="1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S6_banco_prompts.docx</a:t>
            </a:r>
            <a:endParaRPr sz="1700" b="1" dirty="0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8" name="TestuKoadroa 7">
            <a:extLst>
              <a:ext uri="{FF2B5EF4-FFF2-40B4-BE49-F238E27FC236}">
                <a16:creationId xmlns:a16="http://schemas.microsoft.com/office/drawing/2014/main" id="{074E7C96-7F34-BD72-2363-2C52A92487FC}"/>
              </a:ext>
            </a:extLst>
          </p:cNvPr>
          <p:cNvSpPr txBox="1"/>
          <p:nvPr/>
        </p:nvSpPr>
        <p:spPr>
          <a:xfrm>
            <a:off x="833066" y="1953790"/>
            <a:ext cx="6472834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noProof="0" dirty="0"/>
              <a:t>Mismo corpus gobernado. Distinto usuario. Distinto artefacto.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A1AB8F8-D19F-0AC6-5998-E890DA78FCD2}"/>
              </a:ext>
            </a:extLst>
          </p:cNvPr>
          <p:cNvSpPr/>
          <p:nvPr/>
        </p:nvSpPr>
        <p:spPr>
          <a:xfrm>
            <a:off x="888414" y="3114875"/>
            <a:ext cx="2102760" cy="444939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12600">
            <a:solidFill>
              <a:srgbClr val="1B5C4D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4000" b="0" u="none" strike="noStrike" noProof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C43FAF0-0A3C-A324-9A51-6CA39ED80F51}"/>
              </a:ext>
            </a:extLst>
          </p:cNvPr>
          <p:cNvSpPr/>
          <p:nvPr/>
        </p:nvSpPr>
        <p:spPr>
          <a:xfrm>
            <a:off x="987480" y="3259542"/>
            <a:ext cx="19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 noProof="0" dirty="0">
                <a:solidFill>
                  <a:srgbClr val="0B2330"/>
                </a:solidFill>
                <a:effectLst/>
                <a:uFillTx/>
                <a:ea typeface="Aptos"/>
              </a:rPr>
              <a:t>corpus gobernado</a:t>
            </a:r>
            <a:endParaRPr lang="es-ES" sz="20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249939CC-AE2B-36D1-6B49-65AF6DC1DA99}"/>
              </a:ext>
            </a:extLst>
          </p:cNvPr>
          <p:cNvSpPr/>
          <p:nvPr/>
        </p:nvSpPr>
        <p:spPr>
          <a:xfrm flipV="1">
            <a:off x="3063240" y="2811342"/>
            <a:ext cx="777240" cy="530280"/>
          </a:xfrm>
          <a:prstGeom prst="line">
            <a:avLst/>
          </a:prstGeom>
          <a:ln w="28080">
            <a:solidFill>
              <a:srgbClr val="7C87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40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0F59C2A3-42C1-7A50-68E0-6F89336F7593}"/>
              </a:ext>
            </a:extLst>
          </p:cNvPr>
          <p:cNvSpPr/>
          <p:nvPr/>
        </p:nvSpPr>
        <p:spPr>
          <a:xfrm>
            <a:off x="3886200" y="2601102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BEECE5"/>
          </a:solidFill>
          <a:ln w="12600">
            <a:solidFill>
              <a:srgbClr val="2D8F7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D8619B1-5690-71D8-ADE1-F20EF707E26C}"/>
              </a:ext>
            </a:extLst>
          </p:cNvPr>
          <p:cNvSpPr/>
          <p:nvPr/>
        </p:nvSpPr>
        <p:spPr>
          <a:xfrm>
            <a:off x="3959280" y="2710902"/>
            <a:ext cx="1865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2330"/>
                </a:solidFill>
                <a:effectLst/>
                <a:uFillTx/>
                <a:ea typeface="Aptos"/>
              </a:rPr>
              <a:t>almacén nuevo</a:t>
            </a:r>
            <a:endParaRPr lang="en-US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BA075FE7-97A2-C338-A8D6-3BA75183D54A}"/>
              </a:ext>
            </a:extLst>
          </p:cNvPr>
          <p:cNvSpPr/>
          <p:nvPr/>
        </p:nvSpPr>
        <p:spPr>
          <a:xfrm>
            <a:off x="5989320" y="2792982"/>
            <a:ext cx="640080" cy="360"/>
          </a:xfrm>
          <a:prstGeom prst="line">
            <a:avLst/>
          </a:prstGeom>
          <a:ln w="28080">
            <a:solidFill>
              <a:srgbClr val="7C87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E1BE56B2-5363-5EDB-5ACB-35654053A591}"/>
              </a:ext>
            </a:extLst>
          </p:cNvPr>
          <p:cNvSpPr/>
          <p:nvPr/>
        </p:nvSpPr>
        <p:spPr>
          <a:xfrm>
            <a:off x="6720840" y="2601102"/>
            <a:ext cx="2148480" cy="383760"/>
          </a:xfrm>
          <a:prstGeom prst="roundRect">
            <a:avLst>
              <a:gd name="adj" fmla="val 16667"/>
            </a:avLst>
          </a:prstGeom>
          <a:solidFill>
            <a:srgbClr val="F3F4F2"/>
          </a:solidFill>
          <a:ln w="12600">
            <a:solidFill>
              <a:srgbClr val="C7CFCC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70E102D8-52C2-5F2C-DBD2-EF81DC08AB34}"/>
              </a:ext>
            </a:extLst>
          </p:cNvPr>
          <p:cNvSpPr/>
          <p:nvPr/>
        </p:nvSpPr>
        <p:spPr>
          <a:xfrm>
            <a:off x="6793920" y="2710902"/>
            <a:ext cx="2002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2330"/>
                </a:solidFill>
                <a:effectLst/>
                <a:uFillTx/>
                <a:ea typeface="Aptos"/>
              </a:rPr>
              <a:t>tabla de actuación</a:t>
            </a:r>
            <a:endParaRPr lang="en-US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7D574600-23D5-A9C7-A3C7-30738A261A4B}"/>
              </a:ext>
            </a:extLst>
          </p:cNvPr>
          <p:cNvSpPr/>
          <p:nvPr/>
        </p:nvSpPr>
        <p:spPr>
          <a:xfrm>
            <a:off x="3063240" y="3341622"/>
            <a:ext cx="777240" cy="128160"/>
          </a:xfrm>
          <a:prstGeom prst="line">
            <a:avLst/>
          </a:prstGeom>
          <a:ln w="28080">
            <a:solidFill>
              <a:srgbClr val="7C87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40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DF3A3627-FFB5-416E-3BB0-2F4D21CA756C}"/>
              </a:ext>
            </a:extLst>
          </p:cNvPr>
          <p:cNvSpPr/>
          <p:nvPr/>
        </p:nvSpPr>
        <p:spPr>
          <a:xfrm>
            <a:off x="3886200" y="3259542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FFF3CF"/>
          </a:solidFill>
          <a:ln w="12600">
            <a:solidFill>
              <a:srgbClr val="A97724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87EBF093-2773-35BE-7E3D-ACE5D52024B2}"/>
              </a:ext>
            </a:extLst>
          </p:cNvPr>
          <p:cNvSpPr/>
          <p:nvPr/>
        </p:nvSpPr>
        <p:spPr>
          <a:xfrm>
            <a:off x="3959280" y="3369342"/>
            <a:ext cx="1865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2330"/>
                </a:solidFill>
                <a:effectLst/>
                <a:uFillTx/>
                <a:ea typeface="Aptos"/>
              </a:rPr>
              <a:t>operaciones</a:t>
            </a:r>
            <a:endParaRPr lang="en-US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6A43FA5D-67B4-56AF-30EF-D05A4C85EC0B}"/>
              </a:ext>
            </a:extLst>
          </p:cNvPr>
          <p:cNvSpPr/>
          <p:nvPr/>
        </p:nvSpPr>
        <p:spPr>
          <a:xfrm>
            <a:off x="5989320" y="3451422"/>
            <a:ext cx="640080" cy="360"/>
          </a:xfrm>
          <a:prstGeom prst="line">
            <a:avLst/>
          </a:prstGeom>
          <a:ln w="28080">
            <a:solidFill>
              <a:srgbClr val="7C87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D2DE9156-9CEF-496E-DC28-1CECB8468BCE}"/>
              </a:ext>
            </a:extLst>
          </p:cNvPr>
          <p:cNvSpPr/>
          <p:nvPr/>
        </p:nvSpPr>
        <p:spPr>
          <a:xfrm>
            <a:off x="6720840" y="3259542"/>
            <a:ext cx="2148480" cy="383760"/>
          </a:xfrm>
          <a:prstGeom prst="roundRect">
            <a:avLst>
              <a:gd name="adj" fmla="val 16667"/>
            </a:avLst>
          </a:prstGeom>
          <a:solidFill>
            <a:srgbClr val="F0D7DC"/>
          </a:solidFill>
          <a:ln w="12600">
            <a:solidFill>
              <a:srgbClr val="9B344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92246BC8-3336-F6A9-F0CA-036A67E8D6A5}"/>
              </a:ext>
            </a:extLst>
          </p:cNvPr>
          <p:cNvSpPr/>
          <p:nvPr/>
        </p:nvSpPr>
        <p:spPr>
          <a:xfrm>
            <a:off x="6793920" y="3369342"/>
            <a:ext cx="2002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2330"/>
                </a:solidFill>
                <a:effectLst/>
                <a:uFillTx/>
                <a:ea typeface="Aptos"/>
              </a:rPr>
              <a:t>informe de riesgos</a:t>
            </a:r>
            <a:endParaRPr lang="en-US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39C1C9CD-35CC-D8FE-733A-3ED9A66CC66A}"/>
              </a:ext>
            </a:extLst>
          </p:cNvPr>
          <p:cNvSpPr/>
          <p:nvPr/>
        </p:nvSpPr>
        <p:spPr>
          <a:xfrm>
            <a:off x="3063240" y="3341622"/>
            <a:ext cx="777240" cy="786240"/>
          </a:xfrm>
          <a:prstGeom prst="line">
            <a:avLst/>
          </a:prstGeom>
          <a:ln w="28080">
            <a:solidFill>
              <a:srgbClr val="7C87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40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2478D72D-AA81-126B-4D5C-C83B34668215}"/>
              </a:ext>
            </a:extLst>
          </p:cNvPr>
          <p:cNvSpPr/>
          <p:nvPr/>
        </p:nvSpPr>
        <p:spPr>
          <a:xfrm>
            <a:off x="3886200" y="3917982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BEECE5"/>
          </a:solidFill>
          <a:ln w="12600">
            <a:solidFill>
              <a:srgbClr val="2D8F7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3F46682A-1737-0136-869D-7D3D4E8489AD}"/>
              </a:ext>
            </a:extLst>
          </p:cNvPr>
          <p:cNvSpPr/>
          <p:nvPr/>
        </p:nvSpPr>
        <p:spPr>
          <a:xfrm>
            <a:off x="3959280" y="4027422"/>
            <a:ext cx="1865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2330"/>
                </a:solidFill>
                <a:effectLst/>
                <a:uFillTx/>
                <a:ea typeface="Aptos"/>
              </a:rPr>
              <a:t>atención al cliente</a:t>
            </a:r>
            <a:endParaRPr lang="en-US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66A217A2-D393-C8E5-A574-1AC95C1D0235}"/>
              </a:ext>
            </a:extLst>
          </p:cNvPr>
          <p:cNvSpPr/>
          <p:nvPr/>
        </p:nvSpPr>
        <p:spPr>
          <a:xfrm>
            <a:off x="5989320" y="4109862"/>
            <a:ext cx="640080" cy="360"/>
          </a:xfrm>
          <a:prstGeom prst="line">
            <a:avLst/>
          </a:prstGeom>
          <a:ln w="28080">
            <a:solidFill>
              <a:srgbClr val="7C87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57CA863F-2555-EB4A-D43D-F17922977716}"/>
              </a:ext>
            </a:extLst>
          </p:cNvPr>
          <p:cNvSpPr/>
          <p:nvPr/>
        </p:nvSpPr>
        <p:spPr>
          <a:xfrm>
            <a:off x="6720840" y="3917982"/>
            <a:ext cx="2148480" cy="383760"/>
          </a:xfrm>
          <a:prstGeom prst="roundRect">
            <a:avLst>
              <a:gd name="adj" fmla="val 16667"/>
            </a:avLst>
          </a:prstGeom>
          <a:solidFill>
            <a:srgbClr val="F3F4F2"/>
          </a:solidFill>
          <a:ln w="12600">
            <a:solidFill>
              <a:srgbClr val="C7CFCC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1C1008EF-DAE5-0A90-AF80-A012D7B74486}"/>
              </a:ext>
            </a:extLst>
          </p:cNvPr>
          <p:cNvSpPr/>
          <p:nvPr/>
        </p:nvSpPr>
        <p:spPr>
          <a:xfrm>
            <a:off x="6793920" y="4027422"/>
            <a:ext cx="2002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2330"/>
                </a:solidFill>
                <a:effectLst/>
                <a:uFillTx/>
                <a:ea typeface="Aptos"/>
              </a:rPr>
              <a:t>guía rápida</a:t>
            </a:r>
            <a:endParaRPr lang="en-US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F1CC76B1-F192-B6D6-D4FC-D00C32ADE877}"/>
              </a:ext>
            </a:extLst>
          </p:cNvPr>
          <p:cNvSpPr/>
          <p:nvPr/>
        </p:nvSpPr>
        <p:spPr>
          <a:xfrm>
            <a:off x="3063240" y="3341622"/>
            <a:ext cx="777240" cy="1444680"/>
          </a:xfrm>
          <a:prstGeom prst="line">
            <a:avLst/>
          </a:prstGeom>
          <a:ln w="28080">
            <a:solidFill>
              <a:srgbClr val="7C87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40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475F5674-7B3D-8FA8-3A59-8ACD61B1C633}"/>
              </a:ext>
            </a:extLst>
          </p:cNvPr>
          <p:cNvSpPr/>
          <p:nvPr/>
        </p:nvSpPr>
        <p:spPr>
          <a:xfrm>
            <a:off x="3886200" y="4576062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FFF3CF"/>
          </a:solidFill>
          <a:ln w="12600">
            <a:solidFill>
              <a:srgbClr val="A97724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03318A91-557E-C846-D7AD-B337657024AB}"/>
              </a:ext>
            </a:extLst>
          </p:cNvPr>
          <p:cNvSpPr/>
          <p:nvPr/>
        </p:nvSpPr>
        <p:spPr>
          <a:xfrm>
            <a:off x="3959280" y="4685862"/>
            <a:ext cx="1865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2330"/>
                </a:solidFill>
                <a:effectLst/>
                <a:uFillTx/>
                <a:ea typeface="Aptos"/>
              </a:rPr>
              <a:t>formación interna</a:t>
            </a:r>
            <a:endParaRPr lang="en-US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91CC51D6-4EF5-5BBF-BF8E-BDB103525EB3}"/>
              </a:ext>
            </a:extLst>
          </p:cNvPr>
          <p:cNvSpPr/>
          <p:nvPr/>
        </p:nvSpPr>
        <p:spPr>
          <a:xfrm>
            <a:off x="5989320" y="4767942"/>
            <a:ext cx="640080" cy="360"/>
          </a:xfrm>
          <a:prstGeom prst="line">
            <a:avLst/>
          </a:prstGeom>
          <a:ln w="28080">
            <a:solidFill>
              <a:srgbClr val="7C87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FACCE474-D51B-5D4B-57A3-631BB773B142}"/>
              </a:ext>
            </a:extLst>
          </p:cNvPr>
          <p:cNvSpPr/>
          <p:nvPr/>
        </p:nvSpPr>
        <p:spPr>
          <a:xfrm>
            <a:off x="6720840" y="4576062"/>
            <a:ext cx="2148480" cy="383760"/>
          </a:xfrm>
          <a:prstGeom prst="roundRect">
            <a:avLst>
              <a:gd name="adj" fmla="val 16667"/>
            </a:avLst>
          </a:prstGeom>
          <a:solidFill>
            <a:srgbClr val="F0D7DC"/>
          </a:solidFill>
          <a:ln w="12600">
            <a:solidFill>
              <a:srgbClr val="9B344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6CEDE664-6499-65D1-9920-36768448F95B}"/>
              </a:ext>
            </a:extLst>
          </p:cNvPr>
          <p:cNvSpPr/>
          <p:nvPr/>
        </p:nvSpPr>
        <p:spPr>
          <a:xfrm>
            <a:off x="6793920" y="4685862"/>
            <a:ext cx="2002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2330"/>
                </a:solidFill>
                <a:effectLst/>
                <a:uFillTx/>
                <a:ea typeface="Aptos"/>
              </a:rPr>
              <a:t>quiz / flashcards</a:t>
            </a:r>
            <a:endParaRPr lang="en-US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82875A9A-5F10-D3E2-8C88-B1FF753D6B6C}"/>
              </a:ext>
            </a:extLst>
          </p:cNvPr>
          <p:cNvSpPr/>
          <p:nvPr/>
        </p:nvSpPr>
        <p:spPr>
          <a:xfrm>
            <a:off x="914400" y="534924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i="1" u="none" strike="noStrike" noProof="0">
                <a:solidFill>
                  <a:srgbClr val="7C878E"/>
                </a:solidFill>
                <a:effectLst/>
                <a:uFillTx/>
                <a:latin typeface="+mj-lt"/>
                <a:ea typeface="Aptos"/>
              </a:rPr>
              <a:t>La pregunta de diseño no es “qué botón pulso”, sino: ¿quién lo usará, para qué tarea, con qué fuentes y con qué límites?</a:t>
            </a:r>
            <a:endParaRPr lang="es-ES" sz="1400" b="0" u="none" strike="noStrike" noProof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 dirty="0">
                <a:solidFill>
                  <a:srgbClr val="B4BCC0"/>
                </a:solidFill>
                <a:latin typeface="Calibri"/>
              </a:rPr>
              <a:t>S6 · </a:t>
            </a:r>
            <a:r>
              <a:rPr sz="900" dirty="0" err="1">
                <a:solidFill>
                  <a:srgbClr val="B4BCC0"/>
                </a:solidFill>
                <a:latin typeface="Calibri"/>
              </a:rPr>
              <a:t>Asistentes</a:t>
            </a:r>
            <a:r>
              <a:rPr sz="900" dirty="0">
                <a:solidFill>
                  <a:srgbClr val="B4BCC0"/>
                </a:solidFill>
                <a:latin typeface="Calibri"/>
              </a:rPr>
              <a:t>  ·  IA </a:t>
            </a:r>
            <a:r>
              <a:rPr sz="900" dirty="0" err="1">
                <a:solidFill>
                  <a:srgbClr val="B4BCC0"/>
                </a:solidFill>
                <a:latin typeface="Calibri"/>
              </a:rPr>
              <a:t>aplicada</a:t>
            </a:r>
            <a:r>
              <a:rPr sz="900" dirty="0">
                <a:solidFill>
                  <a:srgbClr val="B4BCC0"/>
                </a:solidFill>
                <a:latin typeface="Calibri"/>
              </a:rPr>
              <a:t> a la </a:t>
            </a:r>
            <a:r>
              <a:rPr sz="900" dirty="0" err="1">
                <a:solidFill>
                  <a:srgbClr val="B4BCC0"/>
                </a:solidFill>
                <a:latin typeface="Calibri"/>
              </a:rPr>
              <a:t>Logística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B4BCC0"/>
                </a:solidFill>
                <a:latin typeface="Calibri"/>
              </a:rPr>
              <a:t>3</a:t>
            </a:r>
            <a:r>
              <a:rPr lang="ca-ES" sz="900" dirty="0">
                <a:solidFill>
                  <a:srgbClr val="B4BCC0"/>
                </a:solidFill>
                <a:latin typeface="Calibri"/>
              </a:rPr>
              <a:t>2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C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10454335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A6742B"/>
                </a:solidFill>
                <a:latin typeface="Calibri"/>
              </a:rPr>
              <a:t>ACTIVIDAD A12  ·  45 MINUTOS</a:t>
            </a:r>
          </a:p>
          <a:p>
            <a:pPr>
              <a:spcBef>
                <a:spcPts val="1000"/>
              </a:spcBef>
            </a:pPr>
            <a:r>
              <a:rPr lang="ca-ES" sz="3600" b="1" dirty="0">
                <a:solidFill>
                  <a:srgbClr val="0B1F2A"/>
                </a:solidFill>
                <a:latin typeface="Calibri Light"/>
              </a:rPr>
              <a:t>A12 · </a:t>
            </a:r>
            <a:r>
              <a:rPr lang="en-US" sz="3600" b="1" dirty="0" err="1">
                <a:solidFill>
                  <a:srgbClr val="0B1F2A"/>
                </a:solidFill>
                <a:latin typeface="Calibri Light"/>
              </a:rPr>
              <a:t>Diseñar</a:t>
            </a:r>
            <a:r>
              <a:rPr lang="en-US" sz="3600" b="1" dirty="0">
                <a:solidFill>
                  <a:srgbClr val="0B1F2A"/>
                </a:solidFill>
                <a:latin typeface="Calibri Light"/>
              </a:rPr>
              <a:t>, </a:t>
            </a:r>
            <a:r>
              <a:rPr lang="en-US" sz="3600" b="1" dirty="0" err="1">
                <a:solidFill>
                  <a:srgbClr val="0B1F2A"/>
                </a:solidFill>
                <a:latin typeface="Calibri Light"/>
              </a:rPr>
              <a:t>generar</a:t>
            </a:r>
            <a:r>
              <a:rPr lang="en-US" sz="3600" b="1" dirty="0">
                <a:solidFill>
                  <a:srgbClr val="0B1F2A"/>
                </a:solidFill>
                <a:latin typeface="Calibri Light"/>
              </a:rPr>
              <a:t> y </a:t>
            </a:r>
            <a:r>
              <a:rPr lang="en-US" sz="3600" b="1" dirty="0" err="1">
                <a:solidFill>
                  <a:srgbClr val="0B1F2A"/>
                </a:solidFill>
                <a:latin typeface="Calibri Light"/>
              </a:rPr>
              <a:t>auditar</a:t>
            </a:r>
            <a:r>
              <a:rPr lang="en-US" sz="3600" b="1" dirty="0">
                <a:solidFill>
                  <a:srgbClr val="0B1F2A"/>
                </a:solidFill>
                <a:latin typeface="Calibri Light"/>
              </a:rPr>
              <a:t> antes de </a:t>
            </a:r>
            <a:r>
              <a:rPr lang="en-US" sz="3600" b="1" dirty="0" err="1">
                <a:solidFill>
                  <a:srgbClr val="0B1F2A"/>
                </a:solidFill>
                <a:latin typeface="Calibri Light"/>
              </a:rPr>
              <a:t>compartir</a:t>
            </a:r>
            <a:endParaRPr lang="en-US" sz="3600" b="1" dirty="0">
              <a:solidFill>
                <a:srgbClr val="0B1F2A"/>
              </a:solidFill>
              <a:latin typeface="Calibri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911040"/>
            <a:ext cx="2011680" cy="38100"/>
          </a:xfrm>
          <a:prstGeom prst="rect">
            <a:avLst/>
          </a:prstGeom>
          <a:solidFill>
            <a:srgbClr val="E9C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38FEA487-9094-44AF-6072-D04F339DF5D0}"/>
              </a:ext>
            </a:extLst>
          </p:cNvPr>
          <p:cNvSpPr/>
          <p:nvPr/>
        </p:nvSpPr>
        <p:spPr>
          <a:xfrm>
            <a:off x="914400" y="2331720"/>
            <a:ext cx="868320" cy="383760"/>
          </a:xfrm>
          <a:prstGeom prst="rect">
            <a:avLst/>
          </a:prstGeom>
          <a:solidFill>
            <a:srgbClr val="1B5C4D"/>
          </a:solidFill>
          <a:ln w="12600">
            <a:solidFill>
              <a:srgbClr val="1B5C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4000" b="0" u="none" strike="noStrike" noProof="0" dirty="0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83C9166-2346-AB33-EE1A-253B8A3AD860}"/>
              </a:ext>
            </a:extLst>
          </p:cNvPr>
          <p:cNvSpPr/>
          <p:nvPr/>
        </p:nvSpPr>
        <p:spPr>
          <a:xfrm>
            <a:off x="987480" y="2390074"/>
            <a:ext cx="731160" cy="2079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rgbClr val="FFFFFF"/>
                </a:solidFill>
                <a:effectLst/>
                <a:uFillTx/>
              </a:rPr>
              <a:t>5 min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B820062-5D4B-B58D-02DD-FD398C10FF45}"/>
              </a:ext>
            </a:extLst>
          </p:cNvPr>
          <p:cNvSpPr/>
          <p:nvPr/>
        </p:nvSpPr>
        <p:spPr>
          <a:xfrm>
            <a:off x="1965960" y="24048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 noProof="0" dirty="0">
                <a:solidFill>
                  <a:srgbClr val="0B2330"/>
                </a:solidFill>
                <a:effectLst/>
                <a:uFillTx/>
              </a:rPr>
              <a:t>Destinatario</a:t>
            </a:r>
            <a:endParaRPr lang="es-ES" sz="20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BB744C51-75C2-AE5E-1BA4-87AE5299DE04}"/>
              </a:ext>
            </a:extLst>
          </p:cNvPr>
          <p:cNvSpPr/>
          <p:nvPr/>
        </p:nvSpPr>
        <p:spPr>
          <a:xfrm>
            <a:off x="3886200" y="2414160"/>
            <a:ext cx="6766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b="0" u="none" strike="noStrike" noProof="0" dirty="0">
                <a:solidFill>
                  <a:srgbClr val="0B2330"/>
                </a:solidFill>
                <a:effectLst/>
                <a:uFillTx/>
              </a:rPr>
              <a:t>quién lo va a usar y para qué decisión</a:t>
            </a:r>
            <a:endParaRPr lang="es-ES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12532292-EBB5-AE32-6F13-76C05FF3899D}"/>
              </a:ext>
            </a:extLst>
          </p:cNvPr>
          <p:cNvSpPr/>
          <p:nvPr/>
        </p:nvSpPr>
        <p:spPr>
          <a:xfrm>
            <a:off x="914400" y="2898720"/>
            <a:ext cx="868320" cy="383760"/>
          </a:xfrm>
          <a:prstGeom prst="rect">
            <a:avLst/>
          </a:prstGeom>
          <a:solidFill>
            <a:srgbClr val="A97724"/>
          </a:solidFill>
          <a:ln w="12600">
            <a:solidFill>
              <a:srgbClr val="A977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4000" b="0" u="none" strike="noStrike" noProof="0" dirty="0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FB49F1CB-CD74-11EE-B6BE-C7432E8A2185}"/>
              </a:ext>
            </a:extLst>
          </p:cNvPr>
          <p:cNvSpPr/>
          <p:nvPr/>
        </p:nvSpPr>
        <p:spPr>
          <a:xfrm>
            <a:off x="987480" y="2978052"/>
            <a:ext cx="731160" cy="237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rgbClr val="FFFFFF"/>
                </a:solidFill>
                <a:effectLst/>
                <a:uFillTx/>
              </a:rPr>
              <a:t>15 min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D4BAD91-3905-82C8-DBC9-E4BAA9B46258}"/>
              </a:ext>
            </a:extLst>
          </p:cNvPr>
          <p:cNvSpPr/>
          <p:nvPr/>
        </p:nvSpPr>
        <p:spPr>
          <a:xfrm>
            <a:off x="1965960" y="29718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 noProof="0" dirty="0">
                <a:solidFill>
                  <a:srgbClr val="0B2330"/>
                </a:solidFill>
                <a:effectLst/>
                <a:uFillTx/>
              </a:rPr>
              <a:t>Producto</a:t>
            </a:r>
            <a:endParaRPr lang="es-ES" sz="20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0ECBB13-20E6-7453-9319-8BB6B021FADE}"/>
              </a:ext>
            </a:extLst>
          </p:cNvPr>
          <p:cNvSpPr/>
          <p:nvPr/>
        </p:nvSpPr>
        <p:spPr>
          <a:xfrm>
            <a:off x="3886200" y="2980800"/>
            <a:ext cx="6766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b="0" u="none" strike="noStrike" noProof="0" dirty="0">
                <a:solidFill>
                  <a:srgbClr val="0B2330"/>
                </a:solidFill>
                <a:effectLst/>
                <a:uFillTx/>
              </a:rPr>
              <a:t>Data Table / </a:t>
            </a:r>
            <a:r>
              <a:rPr lang="es-ES" b="0" u="none" strike="noStrike" noProof="0" dirty="0" err="1">
                <a:solidFill>
                  <a:srgbClr val="0B2330"/>
                </a:solidFill>
                <a:effectLst/>
                <a:uFillTx/>
              </a:rPr>
              <a:t>Report</a:t>
            </a:r>
            <a:r>
              <a:rPr lang="es-ES" b="0" u="none" strike="noStrike" noProof="0" dirty="0">
                <a:solidFill>
                  <a:srgbClr val="0B2330"/>
                </a:solidFill>
                <a:effectLst/>
                <a:uFillTx/>
              </a:rPr>
              <a:t> / guía / quiz</a:t>
            </a:r>
            <a:endParaRPr lang="es-ES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1D990AB2-87B0-2035-F484-3541C240D528}"/>
              </a:ext>
            </a:extLst>
          </p:cNvPr>
          <p:cNvSpPr/>
          <p:nvPr/>
        </p:nvSpPr>
        <p:spPr>
          <a:xfrm>
            <a:off x="914400" y="3465720"/>
            <a:ext cx="868320" cy="383760"/>
          </a:xfrm>
          <a:prstGeom prst="rect">
            <a:avLst/>
          </a:prstGeom>
          <a:solidFill>
            <a:srgbClr val="9B3445"/>
          </a:solidFill>
          <a:ln w="12600">
            <a:solidFill>
              <a:srgbClr val="9B34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4000" b="0" u="none" strike="noStrike" noProof="0" dirty="0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91E640A5-06B3-88B2-6149-80237F5DDE08}"/>
              </a:ext>
            </a:extLst>
          </p:cNvPr>
          <p:cNvSpPr/>
          <p:nvPr/>
        </p:nvSpPr>
        <p:spPr>
          <a:xfrm>
            <a:off x="987480" y="3551630"/>
            <a:ext cx="731160" cy="237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rgbClr val="FFFFFF"/>
                </a:solidFill>
                <a:effectLst/>
                <a:uFillTx/>
              </a:rPr>
              <a:t>15 min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86E64E19-ADFB-7F0D-B456-C34B69C5CB55}"/>
              </a:ext>
            </a:extLst>
          </p:cNvPr>
          <p:cNvSpPr/>
          <p:nvPr/>
        </p:nvSpPr>
        <p:spPr>
          <a:xfrm>
            <a:off x="1965960" y="35388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 noProof="0" dirty="0">
                <a:solidFill>
                  <a:srgbClr val="0B2330"/>
                </a:solidFill>
                <a:effectLst/>
                <a:uFillTx/>
              </a:rPr>
              <a:t>Auditoría</a:t>
            </a:r>
            <a:endParaRPr lang="es-ES" sz="20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F8C36794-C60C-BC52-CFAF-FF041E182BB3}"/>
              </a:ext>
            </a:extLst>
          </p:cNvPr>
          <p:cNvSpPr/>
          <p:nvPr/>
        </p:nvSpPr>
        <p:spPr>
          <a:xfrm>
            <a:off x="3886200" y="3547800"/>
            <a:ext cx="6766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b="0" u="none" strike="noStrike" noProof="0" dirty="0">
                <a:solidFill>
                  <a:srgbClr val="0B2330"/>
                </a:solidFill>
                <a:effectLst/>
                <a:uFillTx/>
              </a:rPr>
              <a:t>cinco afirmaciones contra sus fuentes</a:t>
            </a:r>
            <a:endParaRPr lang="es-ES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A88B0729-A515-812E-9773-508D8992EBA4}"/>
              </a:ext>
            </a:extLst>
          </p:cNvPr>
          <p:cNvSpPr/>
          <p:nvPr/>
        </p:nvSpPr>
        <p:spPr>
          <a:xfrm>
            <a:off x="914400" y="4032360"/>
            <a:ext cx="868320" cy="383760"/>
          </a:xfrm>
          <a:prstGeom prst="rect">
            <a:avLst/>
          </a:prstGeom>
          <a:solidFill>
            <a:srgbClr val="2D8F7B"/>
          </a:solidFill>
          <a:ln w="12600">
            <a:solidFill>
              <a:srgbClr val="2D8F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4000" b="0" u="none" strike="noStrike" noProof="0" dirty="0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E660D143-F52D-7966-E653-78D78C5EFF20}"/>
              </a:ext>
            </a:extLst>
          </p:cNvPr>
          <p:cNvSpPr/>
          <p:nvPr/>
        </p:nvSpPr>
        <p:spPr>
          <a:xfrm>
            <a:off x="987480" y="4112052"/>
            <a:ext cx="731160" cy="2466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rgbClr val="FFFFFF"/>
                </a:solidFill>
                <a:effectLst/>
                <a:uFillTx/>
              </a:rPr>
              <a:t>5 min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F7B4481D-A76A-1CFD-332D-86E9E813FE11}"/>
              </a:ext>
            </a:extLst>
          </p:cNvPr>
          <p:cNvSpPr/>
          <p:nvPr/>
        </p:nvSpPr>
        <p:spPr>
          <a:xfrm>
            <a:off x="1965960" y="41058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 noProof="0" dirty="0">
                <a:solidFill>
                  <a:srgbClr val="0B2330"/>
                </a:solidFill>
                <a:effectLst/>
                <a:uFillTx/>
              </a:rPr>
              <a:t>Ajuste</a:t>
            </a:r>
            <a:endParaRPr lang="es-ES" sz="20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CFF0162C-381D-6C96-921B-7AC0F5047ADA}"/>
              </a:ext>
            </a:extLst>
          </p:cNvPr>
          <p:cNvSpPr/>
          <p:nvPr/>
        </p:nvSpPr>
        <p:spPr>
          <a:xfrm>
            <a:off x="3886200" y="4114800"/>
            <a:ext cx="6766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b="0" u="none" strike="noStrike" noProof="0" dirty="0">
                <a:solidFill>
                  <a:srgbClr val="0B2330"/>
                </a:solidFill>
                <a:effectLst/>
                <a:uFillTx/>
              </a:rPr>
              <a:t>cambiar fuentes o instrucciones</a:t>
            </a:r>
            <a:endParaRPr lang="es-ES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72EB9ACE-C856-DF86-494C-73CD4D6378EF}"/>
              </a:ext>
            </a:extLst>
          </p:cNvPr>
          <p:cNvSpPr/>
          <p:nvPr/>
        </p:nvSpPr>
        <p:spPr>
          <a:xfrm>
            <a:off x="914400" y="4599360"/>
            <a:ext cx="868320" cy="383760"/>
          </a:xfrm>
          <a:prstGeom prst="rect">
            <a:avLst/>
          </a:prstGeom>
          <a:solidFill>
            <a:srgbClr val="7C878E"/>
          </a:solidFill>
          <a:ln w="12600">
            <a:solidFill>
              <a:srgbClr val="7C87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4000" b="0" u="none" strike="noStrike" noProof="0" dirty="0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E540541B-4177-769D-AF6A-549B9A0A60BB}"/>
              </a:ext>
            </a:extLst>
          </p:cNvPr>
          <p:cNvSpPr/>
          <p:nvPr/>
        </p:nvSpPr>
        <p:spPr>
          <a:xfrm>
            <a:off x="987480" y="4665535"/>
            <a:ext cx="73116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rgbClr val="FFFFFF"/>
                </a:solidFill>
                <a:effectLst/>
                <a:uFillTx/>
              </a:rPr>
              <a:t>5 min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A8421BE7-CD3B-E9A9-50D2-E57F7B9F076E}"/>
              </a:ext>
            </a:extLst>
          </p:cNvPr>
          <p:cNvSpPr/>
          <p:nvPr/>
        </p:nvSpPr>
        <p:spPr>
          <a:xfrm>
            <a:off x="1965960" y="467244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 noProof="0" dirty="0">
                <a:solidFill>
                  <a:srgbClr val="0B2330"/>
                </a:solidFill>
                <a:effectLst/>
                <a:uFillTx/>
              </a:rPr>
              <a:t>Conclusión</a:t>
            </a:r>
            <a:endParaRPr lang="es-ES" sz="20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9A05F873-3610-271C-48F3-F16823B07B74}"/>
              </a:ext>
            </a:extLst>
          </p:cNvPr>
          <p:cNvSpPr/>
          <p:nvPr/>
        </p:nvSpPr>
        <p:spPr>
          <a:xfrm>
            <a:off x="3886200" y="4681800"/>
            <a:ext cx="6766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b="0" u="none" strike="noStrike" noProof="0" dirty="0">
                <a:solidFill>
                  <a:srgbClr val="0B2330"/>
                </a:solidFill>
                <a:effectLst/>
                <a:uFillTx/>
              </a:rPr>
              <a:t>sirve / no sirve, y por qué</a:t>
            </a:r>
            <a:endParaRPr lang="es-ES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25D06140-B5B3-2F7E-5955-F98A73A6F261}"/>
              </a:ext>
            </a:extLst>
          </p:cNvPr>
          <p:cNvSpPr/>
          <p:nvPr/>
        </p:nvSpPr>
        <p:spPr>
          <a:xfrm>
            <a:off x="914400" y="5257800"/>
            <a:ext cx="2011320" cy="347040"/>
          </a:xfrm>
          <a:prstGeom prst="rect">
            <a:avLst/>
          </a:prstGeom>
          <a:solidFill>
            <a:srgbClr val="9B3445"/>
          </a:solidFill>
          <a:ln w="12600">
            <a:solidFill>
              <a:srgbClr val="9B34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3200" b="0" u="none" strike="noStrike" noProof="0" dirty="0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CFEF6F96-9C4F-1AF8-2073-0458A767E125}"/>
              </a:ext>
            </a:extLst>
          </p:cNvPr>
          <p:cNvSpPr/>
          <p:nvPr/>
        </p:nvSpPr>
        <p:spPr>
          <a:xfrm>
            <a:off x="987480" y="5340240"/>
            <a:ext cx="1865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 noProof="0" dirty="0">
                <a:solidFill>
                  <a:srgbClr val="FFFFFF"/>
                </a:solidFill>
                <a:effectLst/>
                <a:uFillTx/>
                <a:ea typeface="Aptos"/>
              </a:rPr>
              <a:t>Auditoría mínima</a:t>
            </a:r>
            <a:endParaRPr lang="es-ES" sz="16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ED7AA78A-9FAB-3A5D-E078-1F222E4820D9}"/>
              </a:ext>
            </a:extLst>
          </p:cNvPr>
          <p:cNvSpPr/>
          <p:nvPr/>
        </p:nvSpPr>
        <p:spPr>
          <a:xfrm>
            <a:off x="3000742" y="5260234"/>
            <a:ext cx="8587137" cy="3377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 noProof="0">
                <a:solidFill>
                  <a:srgbClr val="7C878E"/>
                </a:solidFill>
                <a:effectLst/>
                <a:uFillTx/>
              </a:rPr>
              <a:t>¿sale de una fuente? </a:t>
            </a:r>
            <a:r>
              <a:rPr lang="es-ES" sz="1400" b="0" u="none" strike="noStrike" noProof="0" dirty="0">
                <a:solidFill>
                  <a:srgbClr val="7C878E"/>
                </a:solidFill>
                <a:effectLst/>
                <a:uFillTx/>
              </a:rPr>
              <a:t>· ¿esa fuente manda? · ¿deduce o copia? · ¿convierte histórico en norma? · ¿qué falta?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B4BCC0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B4BCC0"/>
                </a:solidFill>
                <a:latin typeface="Calibri"/>
              </a:rPr>
              <a:t>33</a:t>
            </a:r>
            <a:endParaRPr sz="900" dirty="0">
              <a:solidFill>
                <a:srgbClr val="B4BC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54335" cy="66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4000" b="1" noProof="0">
                <a:solidFill>
                  <a:srgbClr val="0B1F2A"/>
                </a:solidFill>
                <a:latin typeface="Calibri Light"/>
              </a:rPr>
              <a:t>Ponemos en común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92309"/>
            <a:ext cx="1463040" cy="38100"/>
          </a:xfrm>
          <a:prstGeom prst="rect">
            <a:avLst/>
          </a:prstGeom>
          <a:solidFill>
            <a:srgbClr val="E9C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454335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"/>
              </a:rPr>
              <a:t>—  ¿Para quién era el producto y qué debía resolver?</a:t>
            </a:r>
          </a:p>
          <a:p>
            <a:pPr>
              <a:spcAft>
                <a:spcPts val="140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"/>
              </a:rPr>
              <a:t>—  ¿Qué fuente sobraba o faltaba?</a:t>
            </a:r>
          </a:p>
          <a:p>
            <a:pPr>
              <a:spcAft>
                <a:spcPts val="140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"/>
              </a:rPr>
              <a:t>—  ¿Qué afirmación no pudisteis defender?</a:t>
            </a:r>
          </a:p>
          <a:p>
            <a:pPr>
              <a:spcAft>
                <a:spcPts val="1400"/>
              </a:spcAft>
            </a:pPr>
            <a:r>
              <a:rPr lang="es-ES" sz="2800" b="1" noProof="0" dirty="0">
                <a:solidFill>
                  <a:srgbClr val="0B1F2A"/>
                </a:solidFill>
                <a:latin typeface="Calibri"/>
              </a:rPr>
              <a:t>—  ¿Qué cambiaríais antes de compartirlo?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9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82512"/>
            <a:ext cx="9357055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Calibri"/>
              </a:rPr>
              <a:t>S6 · Asistentes  ·  IA aplicada a la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22932" y="638251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ca-ES" sz="900" dirty="0">
                <a:solidFill>
                  <a:srgbClr val="FFFFFF"/>
                </a:solidFill>
                <a:latin typeface="Calibri"/>
              </a:rPr>
              <a:t>34</a:t>
            </a:r>
            <a:endParaRPr sz="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476527"/>
            <a:ext cx="10454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Dos cosas de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11484"/>
            <a:ext cx="2011680" cy="38100"/>
          </a:xfrm>
          <a:prstGeom prst="rect">
            <a:avLst/>
          </a:prstGeom>
          <a:solidFill>
            <a:srgbClr val="DD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44751"/>
            <a:ext cx="1052143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es-ES" sz="2800" b="1" noProof="0" dirty="0">
                <a:solidFill>
                  <a:srgbClr val="DDE6E2"/>
                </a:solidFill>
                <a:latin typeface="Calibri Light"/>
              </a:rPr>
              <a:t>1.  </a:t>
            </a:r>
            <a:r>
              <a:rPr lang="es-ES" sz="2800" noProof="0" dirty="0">
                <a:solidFill>
                  <a:srgbClr val="FFFFFF"/>
                </a:solidFill>
                <a:latin typeface="Calibri Light"/>
              </a:rPr>
              <a:t>Un asistente útil no es el que contesta a todo. Es el que sabe de dónde sale lo que contesta y cuándo tiene que parar.</a:t>
            </a:r>
          </a:p>
          <a:p>
            <a:pPr>
              <a:spcAft>
                <a:spcPts val="1600"/>
              </a:spcAft>
            </a:pPr>
            <a:r>
              <a:rPr lang="es-ES" sz="2800" b="1" noProof="0" dirty="0">
                <a:solidFill>
                  <a:srgbClr val="DDE6E2"/>
                </a:solidFill>
                <a:latin typeface="Calibri Light"/>
              </a:rPr>
              <a:t>2.  </a:t>
            </a:r>
            <a:r>
              <a:rPr lang="es-ES" sz="2800" noProof="0" dirty="0">
                <a:solidFill>
                  <a:srgbClr val="FFFFFF"/>
                </a:solidFill>
                <a:latin typeface="Calibri Light"/>
              </a:rPr>
              <a:t>Si el conocimiento no está escrito, antes de construir un asistente hay que sacarlo de la cabeza de quien lo sabe.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68281"/>
            <a:ext cx="1045433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700" b="0" noProof="0" dirty="0">
                <a:solidFill>
                  <a:schemeClr val="bg1">
                    <a:lumMod val="85000"/>
                  </a:schemeClr>
                </a:solidFill>
                <a:latin typeface="Calibri"/>
              </a:rPr>
              <a:t>Te llevas la tarjeta y el banco de encargos, ya con catorce entradas.  ·  El martes 13: qué de todo esto se puede dejar funcionando solo, y qué no.</a:t>
            </a:r>
          </a:p>
        </p:txBody>
      </p:sp>
      <p:sp>
        <p:nvSpPr>
          <p:cNvPr id="9" name="TestuKoadroa 8">
            <a:extLst>
              <a:ext uri="{FF2B5EF4-FFF2-40B4-BE49-F238E27FC236}">
                <a16:creationId xmlns:a16="http://schemas.microsoft.com/office/drawing/2014/main" id="{4CC523B5-DD6F-D64A-21D8-93F0684001D9}"/>
              </a:ext>
            </a:extLst>
          </p:cNvPr>
          <p:cNvSpPr txBox="1"/>
          <p:nvPr/>
        </p:nvSpPr>
        <p:spPr>
          <a:xfrm>
            <a:off x="868680" y="5665099"/>
            <a:ext cx="3683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FF00"/>
                </a:solidFill>
              </a:rPr>
              <a:t>S6_banco_prompts.docx S6_tarjeta_jerarquia.pdf</a:t>
            </a:r>
            <a:endParaRPr lang="eu-E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gai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4460</Words>
  <Application>Microsoft Office PowerPoint</Application>
  <PresentationFormat>Panoramikoa</PresentationFormat>
  <Paragraphs>485</Paragraphs>
  <Slides>34</Slides>
  <Notes>34</Notes>
  <HiddenSlides>0</HiddenSlides>
  <MMClips>0</MMClips>
  <ScaleCrop>false</ScaleCrop>
  <HeadingPairs>
    <vt:vector size="6" baseType="variant">
      <vt:variant>
        <vt:lpstr>Erabilitako letra-tipoak</vt:lpstr>
      </vt:variant>
      <vt:variant>
        <vt:i4>7</vt:i4>
      </vt:variant>
      <vt:variant>
        <vt:lpstr>Gaia</vt:lpstr>
      </vt:variant>
      <vt:variant>
        <vt:i4>1</vt:i4>
      </vt:variant>
      <vt:variant>
        <vt:lpstr>Diapositiben tituluak</vt:lpstr>
      </vt:variant>
      <vt:variant>
        <vt:i4>34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Calibri Light</vt:lpstr>
      <vt:lpstr>Courier New</vt:lpstr>
      <vt:lpstr>Wingdings</vt:lpstr>
      <vt:lpstr>Office Theme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  <vt:lpstr>PowerPoint aurkezpena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Amaia Arriluzea</dc:creator>
  <cp:keywords/>
  <dc:description>generated using python-pptx</dc:description>
  <cp:lastModifiedBy>Morales i Gras Jordi</cp:lastModifiedBy>
  <cp:revision>94</cp:revision>
  <dcterms:created xsi:type="dcterms:W3CDTF">2013-01-27T09:14:16Z</dcterms:created>
  <dcterms:modified xsi:type="dcterms:W3CDTF">2026-10-08T08:29:55Z</dcterms:modified>
  <cp:category/>
</cp:coreProperties>
</file>